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6" r:id="rId2"/>
    <p:sldId id="258" r:id="rId3"/>
    <p:sldId id="259" r:id="rId4"/>
    <p:sldId id="262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7"/>
  </p:normalViewPr>
  <p:slideViewPr>
    <p:cSldViewPr snapToGrid="0">
      <p:cViewPr varScale="1">
        <p:scale>
          <a:sx n="106" d="100"/>
          <a:sy n="106" d="100"/>
        </p:scale>
        <p:origin x="7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07CB0-3FDE-494F-B180-D289B721C765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E0FBFB-6CB8-4242-A777-8EE2B5E1B37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0740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09CC4-CE9F-9641-BF2E-3170F6BA9E9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6753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3E0D25-ACC0-6B9D-D289-EC993A4B61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0CD6E77-4F22-EDB8-8296-7A56E10FF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A664C2-D497-49CC-D4C9-BE82D5E7F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63EAA-E663-2C4F-8A39-B5C1FFCF10E0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00EB7A-0257-72C5-E4BB-F275F5803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6AFDBF-5AB7-FCC5-4F76-2F8FB686A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286DE-BAA8-594E-9BD6-655E6006799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10777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494BD5-AE1B-1398-963B-AB00FD14E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F7DF47-CC38-0BF0-256A-E3D49F21C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EC5C40-E45B-D938-2492-F339F390A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63EAA-E663-2C4F-8A39-B5C1FFCF10E0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24AD74-0145-6D50-F275-86A8CB0F6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A1CA61-BB69-82D7-B6C1-8E33FC51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286DE-BAA8-594E-9BD6-655E6006799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4306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8B0EFB-F6CD-1BD7-E779-BFE7FCDFF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68421D-2B93-E7E7-6079-08C77A713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F4B6F0-2F74-B4FD-6CAB-83C78488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63EAA-E663-2C4F-8A39-B5C1FFCF10E0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25A45B-0959-418C-E6B1-D8E71C7B6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4182C3-60B4-4E7D-6DE5-579DE860B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286DE-BAA8-594E-9BD6-655E6006799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25074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123E84-A22B-2ED6-3E5C-5D8589DA4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6461B2-BC09-FAF7-F89D-096388690B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076C0C-D819-775A-5610-5101A2D65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628AD8-7B27-4687-B23C-1088B801B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63EAA-E663-2C4F-8A39-B5C1FFCF10E0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FEBC79-32E2-8F75-17B2-A8686FB69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7DC2C7-99C0-92B3-E5DF-12B4095F1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286DE-BAA8-594E-9BD6-655E6006799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1582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508005-B590-CE86-4920-3A32850B7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93AC7-243C-2CAA-BD0D-7E8DF8FAD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CDA08D-A157-03E1-85C9-4F3848C7B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446E91-6989-71F6-94A9-7334919E84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2989124-98A1-9EBD-BD0F-3383BD909B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E4101AD-8DCA-EBE8-07C3-28DA385B4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63EAA-E663-2C4F-8A39-B5C1FFCF10E0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E39D551-1C17-7084-475E-81226D41A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4293F2B-7376-CE75-D010-41ACFDA9E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286DE-BAA8-594E-9BD6-655E6006799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1593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A9868A-9511-4E91-3A73-7B558D457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45F6E4-AA6E-FBFF-06C2-45F804372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63EAA-E663-2C4F-8A39-B5C1FFCF10E0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CA614C-6916-8083-991C-54FF82075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1271949-DBD1-79FD-0B53-7E01EF65D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286DE-BAA8-594E-9BD6-655E6006799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3923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B12E59C-567C-630A-0462-BF084DBC2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63EAA-E663-2C4F-8A39-B5C1FFCF10E0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F981C94-E28D-AB12-EE7C-F908E76B9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1FF795-2BB9-0772-CCE2-C746E234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286DE-BAA8-594E-9BD6-655E6006799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6395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F8361F-23C3-5F0C-119C-0B0033C0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C6352B-64F0-AD2C-15BD-2FBE37B2F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CD8836-05F8-784B-A620-0A62629FE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3AEAA7-3322-BACA-3131-4667CD0BE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63EAA-E663-2C4F-8A39-B5C1FFCF10E0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FE8A67-33FA-2B5B-22EA-620B2256D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631B34-D2CF-9EC6-806B-AF3BCF87D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286DE-BAA8-594E-9BD6-655E6006799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6335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58AA0B-2764-3C28-3163-E80E0D55F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86D93CF-585D-A172-A5CB-6F5A5FADA5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846441-7AE9-7FD1-D26D-064A17889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D0DDF8-8152-3234-E8F9-C2F3312BE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63EAA-E663-2C4F-8A39-B5C1FFCF10E0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66FBBC-A523-D676-A2F0-0B4C7D458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C1069A-4161-EE42-DA72-13DE7A46B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286DE-BAA8-594E-9BD6-655E6006799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2214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6855F2-1BBF-040E-355E-6E47E729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4C7A91-7D02-6607-1EBC-7E4A8AAD0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7C1DBB-D415-6418-2BA6-BB76788CC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63EAA-E663-2C4F-8A39-B5C1FFCF10E0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3D92C4-6EE1-4841-40E7-676A96E8C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50BFBA-CE96-9D1C-FE9F-7B224346B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286DE-BAA8-594E-9BD6-655E6006799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9842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92732D5-413C-5E38-769F-A8417320E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B53B54-D3B4-DAB5-ED31-9390A2B9F5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0CC939-1C59-EB1E-AB4F-BC0E4D928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63EAA-E663-2C4F-8A39-B5C1FFCF10E0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8BE282-48D0-48C2-B9F4-48FCF62B2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100629-CFE2-0159-0E33-306F10E60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286DE-BAA8-594E-9BD6-655E6006799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3909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56FB943-1572-4EE5-D715-641C00B84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90ED20-D5D8-40F2-7B0F-434A2E8FA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27A08B-B50A-2AF1-F4C5-1D6F980D63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663EAA-E663-2C4F-8A39-B5C1FFCF10E0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EA2A2D-EE68-143D-3076-C39B1BDCAE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1DC080-100B-83F8-289F-A88889EF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1286DE-BAA8-594E-9BD6-655E6006799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3678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7.JPEG"/><Relationship Id="rId7" Type="http://schemas.microsoft.com/office/2007/relationships/hdphoto" Target="../media/hdphoto1.wdp"/><Relationship Id="rId12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矩形 108">
            <a:extLst>
              <a:ext uri="{FF2B5EF4-FFF2-40B4-BE49-F238E27FC236}">
                <a16:creationId xmlns:a16="http://schemas.microsoft.com/office/drawing/2014/main" id="{F1C6943B-1DCD-4D3A-9F6D-51AEABE92F56}"/>
              </a:ext>
            </a:extLst>
          </p:cNvPr>
          <p:cNvSpPr>
            <a:spLocks/>
          </p:cNvSpPr>
          <p:nvPr/>
        </p:nvSpPr>
        <p:spPr>
          <a:xfrm>
            <a:off x="5530627" y="1439773"/>
            <a:ext cx="825951" cy="2358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8710A2CD-4686-4897-980C-535C9E8A4C83}"/>
              </a:ext>
            </a:extLst>
          </p:cNvPr>
          <p:cNvSpPr>
            <a:spLocks/>
          </p:cNvSpPr>
          <p:nvPr/>
        </p:nvSpPr>
        <p:spPr>
          <a:xfrm>
            <a:off x="2968780" y="1395489"/>
            <a:ext cx="5889470" cy="4022737"/>
          </a:xfrm>
          <a:prstGeom prst="roundRect">
            <a:avLst>
              <a:gd name="adj" fmla="val 3494"/>
            </a:avLst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AD7E48C5-37BE-4D40-868D-EF60DB028861}"/>
              </a:ext>
            </a:extLst>
          </p:cNvPr>
          <p:cNvSpPr>
            <a:spLocks/>
          </p:cNvSpPr>
          <p:nvPr/>
        </p:nvSpPr>
        <p:spPr>
          <a:xfrm>
            <a:off x="2968780" y="1000968"/>
            <a:ext cx="5909718" cy="39226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EDC78F15-690E-415F-B5DA-AC374BC9F757}"/>
              </a:ext>
            </a:extLst>
          </p:cNvPr>
          <p:cNvGrpSpPr>
            <a:grpSpLocks/>
          </p:cNvGrpSpPr>
          <p:nvPr/>
        </p:nvGrpSpPr>
        <p:grpSpPr>
          <a:xfrm>
            <a:off x="3246725" y="1755515"/>
            <a:ext cx="5301542" cy="1016587"/>
            <a:chOff x="3188408" y="1918700"/>
            <a:chExt cx="5301542" cy="1016587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3A1F70BE-C4B8-46D3-B2E5-170567C9B233}"/>
                </a:ext>
              </a:extLst>
            </p:cNvPr>
            <p:cNvSpPr>
              <a:spLocks/>
            </p:cNvSpPr>
            <p:nvPr/>
          </p:nvSpPr>
          <p:spPr>
            <a:xfrm>
              <a:off x="3188408" y="1918700"/>
              <a:ext cx="5301542" cy="1016587"/>
            </a:xfrm>
            <a:prstGeom prst="roundRect">
              <a:avLst/>
            </a:prstGeom>
            <a:noFill/>
            <a:ln>
              <a:solidFill>
                <a:srgbClr val="90B2D2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A6F3458-4C17-4FE9-AFDB-C46B85E59B1B}"/>
                </a:ext>
              </a:extLst>
            </p:cNvPr>
            <p:cNvSpPr txBox="1">
              <a:spLocks/>
            </p:cNvSpPr>
            <p:nvPr/>
          </p:nvSpPr>
          <p:spPr>
            <a:xfrm>
              <a:off x="4325227" y="1918701"/>
              <a:ext cx="357886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sz="1200" b="1" kern="100" dirty="0">
                  <a:solidFill>
                    <a:srgbClr val="C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基于</a:t>
              </a:r>
              <a:r>
                <a:rPr lang="zh-CN" altLang="en-US" sz="1200" b="1" kern="100" dirty="0">
                  <a:solidFill>
                    <a:srgbClr val="C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条件</a:t>
              </a:r>
              <a:r>
                <a:rPr lang="zh-CN" altLang="zh-CN" sz="1200" b="1" kern="100" dirty="0">
                  <a:solidFill>
                    <a:srgbClr val="C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去噪扩散概率模型的生成脑肿瘤图像研究</a:t>
              </a:r>
              <a:endParaRPr lang="zh-CN" altLang="en-US" sz="12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28FE5CC1-2E48-404B-85C8-E9DA58D00B1F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b="5423"/>
            <a:stretch/>
          </p:blipFill>
          <p:spPr>
            <a:xfrm rot="10800000">
              <a:off x="3351963" y="2279590"/>
              <a:ext cx="637993" cy="469866"/>
            </a:xfrm>
            <a:prstGeom prst="rect">
              <a:avLst/>
            </a:prstGeom>
          </p:spPr>
        </p:pic>
        <p:sp>
          <p:nvSpPr>
            <p:cNvPr id="7" name="箭头: 右 6">
              <a:extLst>
                <a:ext uri="{FF2B5EF4-FFF2-40B4-BE49-F238E27FC236}">
                  <a16:creationId xmlns:a16="http://schemas.microsoft.com/office/drawing/2014/main" id="{2C90EC6F-560D-4336-83C0-C668ABEF1D7F}"/>
                </a:ext>
              </a:extLst>
            </p:cNvPr>
            <p:cNvSpPr>
              <a:spLocks/>
            </p:cNvSpPr>
            <p:nvPr/>
          </p:nvSpPr>
          <p:spPr>
            <a:xfrm>
              <a:off x="4065290" y="2435987"/>
              <a:ext cx="198521" cy="15039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27E8B1A-E34D-4D6E-B19C-F2CDFC652768}"/>
                </a:ext>
              </a:extLst>
            </p:cNvPr>
            <p:cNvSpPr>
              <a:spLocks/>
            </p:cNvSpPr>
            <p:nvPr/>
          </p:nvSpPr>
          <p:spPr>
            <a:xfrm>
              <a:off x="4289274" y="2289818"/>
              <a:ext cx="756108" cy="41573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" name="箭头: 右 8">
              <a:extLst>
                <a:ext uri="{FF2B5EF4-FFF2-40B4-BE49-F238E27FC236}">
                  <a16:creationId xmlns:a16="http://schemas.microsoft.com/office/drawing/2014/main" id="{E8B5D046-71F9-4795-9124-4FAC1856B4E0}"/>
                </a:ext>
              </a:extLst>
            </p:cNvPr>
            <p:cNvSpPr>
              <a:spLocks/>
            </p:cNvSpPr>
            <p:nvPr/>
          </p:nvSpPr>
          <p:spPr>
            <a:xfrm>
              <a:off x="5092778" y="2435987"/>
              <a:ext cx="198521" cy="15039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3FB7DDCC-807C-4A3B-83EE-4A0E6193C55D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b="5423"/>
            <a:stretch/>
          </p:blipFill>
          <p:spPr>
            <a:xfrm rot="10800000">
              <a:off x="5370508" y="2276238"/>
              <a:ext cx="637993" cy="469866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6BD7BA80-E873-49EF-BF36-45B2AF46D555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b="5423"/>
            <a:stretch/>
          </p:blipFill>
          <p:spPr>
            <a:xfrm rot="10800000">
              <a:off x="5460696" y="2333706"/>
              <a:ext cx="637993" cy="469866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55E8FB3-9E05-4130-8423-AC2B922162E4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b="5423"/>
            <a:stretch/>
          </p:blipFill>
          <p:spPr>
            <a:xfrm rot="10800000">
              <a:off x="5553189" y="2391174"/>
              <a:ext cx="637993" cy="469866"/>
            </a:xfrm>
            <a:prstGeom prst="rect">
              <a:avLst/>
            </a:prstGeom>
          </p:spPr>
        </p:pic>
        <p:sp>
          <p:nvSpPr>
            <p:cNvPr id="13" name="箭头: 右 12">
              <a:extLst>
                <a:ext uri="{FF2B5EF4-FFF2-40B4-BE49-F238E27FC236}">
                  <a16:creationId xmlns:a16="http://schemas.microsoft.com/office/drawing/2014/main" id="{9690EFFD-A2D1-4C42-8C65-056DC84CB86E}"/>
                </a:ext>
              </a:extLst>
            </p:cNvPr>
            <p:cNvSpPr>
              <a:spLocks/>
            </p:cNvSpPr>
            <p:nvPr/>
          </p:nvSpPr>
          <p:spPr>
            <a:xfrm>
              <a:off x="6273105" y="2435987"/>
              <a:ext cx="198521" cy="15039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A10DBD07-C75E-4F1E-9A67-0EC461E6D1FC}"/>
                </a:ext>
              </a:extLst>
            </p:cNvPr>
            <p:cNvSpPr>
              <a:spLocks/>
            </p:cNvSpPr>
            <p:nvPr/>
          </p:nvSpPr>
          <p:spPr>
            <a:xfrm>
              <a:off x="6495201" y="2289146"/>
              <a:ext cx="756108" cy="415738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" name="箭头: 右 28">
              <a:extLst>
                <a:ext uri="{FF2B5EF4-FFF2-40B4-BE49-F238E27FC236}">
                  <a16:creationId xmlns:a16="http://schemas.microsoft.com/office/drawing/2014/main" id="{794AACA6-1058-4590-B1FA-8C774A9814AD}"/>
                </a:ext>
              </a:extLst>
            </p:cNvPr>
            <p:cNvSpPr>
              <a:spLocks/>
            </p:cNvSpPr>
            <p:nvPr/>
          </p:nvSpPr>
          <p:spPr>
            <a:xfrm>
              <a:off x="7312216" y="2435987"/>
              <a:ext cx="198521" cy="15039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062D60FC-D9E2-4CC9-88DB-2E61CB3BF10C}"/>
                </a:ext>
              </a:extLst>
            </p:cNvPr>
            <p:cNvSpPr>
              <a:spLocks/>
            </p:cNvSpPr>
            <p:nvPr/>
          </p:nvSpPr>
          <p:spPr>
            <a:xfrm>
              <a:off x="7574351" y="2296807"/>
              <a:ext cx="756108" cy="41573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82774A7E-A17F-441C-B979-CE6C5EDE34B0}"/>
              </a:ext>
            </a:extLst>
          </p:cNvPr>
          <p:cNvGrpSpPr>
            <a:grpSpLocks/>
          </p:cNvGrpSpPr>
          <p:nvPr/>
        </p:nvGrpSpPr>
        <p:grpSpPr>
          <a:xfrm>
            <a:off x="3246725" y="4197642"/>
            <a:ext cx="5301542" cy="1125186"/>
            <a:chOff x="3188408" y="4460849"/>
            <a:chExt cx="5301542" cy="1125186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CDB2F704-910A-4DC0-ADA7-F6BF3D86969A}"/>
                </a:ext>
              </a:extLst>
            </p:cNvPr>
            <p:cNvSpPr>
              <a:spLocks/>
            </p:cNvSpPr>
            <p:nvPr/>
          </p:nvSpPr>
          <p:spPr>
            <a:xfrm>
              <a:off x="3188408" y="4460849"/>
              <a:ext cx="5301542" cy="1125186"/>
            </a:xfrm>
            <a:prstGeom prst="roundRect">
              <a:avLst/>
            </a:prstGeom>
            <a:noFill/>
            <a:ln>
              <a:solidFill>
                <a:srgbClr val="90B2D2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3CA6413-676A-4AAF-9FC6-6D7B55834321}"/>
                </a:ext>
              </a:extLst>
            </p:cNvPr>
            <p:cNvSpPr txBox="1">
              <a:spLocks/>
            </p:cNvSpPr>
            <p:nvPr/>
          </p:nvSpPr>
          <p:spPr>
            <a:xfrm>
              <a:off x="4536476" y="4468741"/>
              <a:ext cx="358603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b="1" kern="100" dirty="0">
                  <a:solidFill>
                    <a:srgbClr val="C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基于多模态融合的脑肿瘤图像分类研究</a:t>
              </a:r>
            </a:p>
          </p:txBody>
        </p:sp>
      </p:grp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91763051-EF5F-4CE5-93BC-3C5ECF5CECBA}"/>
              </a:ext>
            </a:extLst>
          </p:cNvPr>
          <p:cNvSpPr>
            <a:spLocks/>
          </p:cNvSpPr>
          <p:nvPr/>
        </p:nvSpPr>
        <p:spPr>
          <a:xfrm>
            <a:off x="3260534" y="2928500"/>
            <a:ext cx="5301542" cy="1125186"/>
          </a:xfrm>
          <a:prstGeom prst="roundRect">
            <a:avLst/>
          </a:prstGeom>
          <a:noFill/>
          <a:ln>
            <a:solidFill>
              <a:srgbClr val="90B2D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8CC12B1-9E71-4EF8-8DFA-FA768405B431}"/>
              </a:ext>
            </a:extLst>
          </p:cNvPr>
          <p:cNvSpPr txBox="1">
            <a:spLocks/>
          </p:cNvSpPr>
          <p:nvPr/>
        </p:nvSpPr>
        <p:spPr>
          <a:xfrm>
            <a:off x="4372334" y="2911340"/>
            <a:ext cx="36251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b="1" kern="100" dirty="0">
                <a:solidFill>
                  <a:srgbClr val="C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zh-CN" altLang="en-US" sz="1200" b="1" kern="100" dirty="0">
                <a:solidFill>
                  <a:srgbClr val="C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注意力的空间通道双分支脑肿瘤</a:t>
            </a:r>
            <a:r>
              <a:rPr lang="zh-CN" altLang="zh-CN" sz="1200" b="1" kern="100" dirty="0">
                <a:solidFill>
                  <a:srgbClr val="C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图像</a:t>
            </a:r>
            <a:r>
              <a:rPr lang="zh-CN" altLang="en-US" sz="1200" b="1" kern="100" dirty="0">
                <a:solidFill>
                  <a:srgbClr val="C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分类</a:t>
            </a:r>
            <a:r>
              <a:rPr lang="zh-CN" altLang="zh-CN" sz="1200" b="1" kern="100" dirty="0">
                <a:solidFill>
                  <a:srgbClr val="C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研究</a:t>
            </a:r>
            <a:endParaRPr lang="zh-CN" altLang="en-US" sz="1200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FC6F8601-5166-4047-A13E-F80DC5E4FD02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b="5423"/>
          <a:stretch/>
        </p:blipFill>
        <p:spPr>
          <a:xfrm rot="10800000">
            <a:off x="3518594" y="4463072"/>
            <a:ext cx="404352" cy="277210"/>
          </a:xfrm>
          <a:prstGeom prst="rect">
            <a:avLst/>
          </a:prstGeom>
        </p:spPr>
      </p:pic>
      <p:sp>
        <p:nvSpPr>
          <p:cNvPr id="60" name="箭头: 右 59">
            <a:extLst>
              <a:ext uri="{FF2B5EF4-FFF2-40B4-BE49-F238E27FC236}">
                <a16:creationId xmlns:a16="http://schemas.microsoft.com/office/drawing/2014/main" id="{34BA3A1C-8CE4-4FB9-8F39-C83E5AA7BE43}"/>
              </a:ext>
            </a:extLst>
          </p:cNvPr>
          <p:cNvSpPr>
            <a:spLocks/>
          </p:cNvSpPr>
          <p:nvPr/>
        </p:nvSpPr>
        <p:spPr>
          <a:xfrm>
            <a:off x="6301399" y="4814307"/>
            <a:ext cx="198521" cy="15039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箭头: 右 63">
            <a:extLst>
              <a:ext uri="{FF2B5EF4-FFF2-40B4-BE49-F238E27FC236}">
                <a16:creationId xmlns:a16="http://schemas.microsoft.com/office/drawing/2014/main" id="{7A579340-C78B-4A0A-909B-88685650566E}"/>
              </a:ext>
            </a:extLst>
          </p:cNvPr>
          <p:cNvSpPr>
            <a:spLocks/>
          </p:cNvSpPr>
          <p:nvPr/>
        </p:nvSpPr>
        <p:spPr>
          <a:xfrm>
            <a:off x="7418511" y="4810110"/>
            <a:ext cx="198521" cy="15039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25971205-D99A-47C0-8A39-0D1585EAEC34}"/>
              </a:ext>
            </a:extLst>
          </p:cNvPr>
          <p:cNvSpPr>
            <a:spLocks/>
          </p:cNvSpPr>
          <p:nvPr/>
        </p:nvSpPr>
        <p:spPr>
          <a:xfrm>
            <a:off x="5441891" y="4670318"/>
            <a:ext cx="832031" cy="41549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</a:t>
            </a:r>
            <a:endParaRPr lang="en-US" altLang="zh-CN" sz="11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教师模型</a:t>
            </a: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57CF4432-050B-4317-9E9B-76F272EE6A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864" y="4952557"/>
            <a:ext cx="235273" cy="235273"/>
          </a:xfrm>
          <a:prstGeom prst="rect">
            <a:avLst/>
          </a:prstGeom>
        </p:spPr>
      </p:pic>
      <p:sp>
        <p:nvSpPr>
          <p:cNvPr id="81" name="箭头: 右 80">
            <a:extLst>
              <a:ext uri="{FF2B5EF4-FFF2-40B4-BE49-F238E27FC236}">
                <a16:creationId xmlns:a16="http://schemas.microsoft.com/office/drawing/2014/main" id="{FCB192A6-0F7E-4223-96AC-1195A1176C58}"/>
              </a:ext>
            </a:extLst>
          </p:cNvPr>
          <p:cNvSpPr>
            <a:spLocks/>
          </p:cNvSpPr>
          <p:nvPr/>
        </p:nvSpPr>
        <p:spPr>
          <a:xfrm>
            <a:off x="5230304" y="4799538"/>
            <a:ext cx="198521" cy="15039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DD8AE945-1F8E-4A07-9A28-6AC871FBA023}"/>
              </a:ext>
            </a:extLst>
          </p:cNvPr>
          <p:cNvSpPr>
            <a:spLocks/>
          </p:cNvSpPr>
          <p:nvPr/>
        </p:nvSpPr>
        <p:spPr>
          <a:xfrm>
            <a:off x="4221260" y="5026260"/>
            <a:ext cx="1017134" cy="24622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冻结</a:t>
            </a:r>
            <a:r>
              <a:rPr lang="en-US" altLang="zh-CN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不冻结</a:t>
            </a: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D7BA1915-A29F-4079-AA9D-A93F2FB88A4C}"/>
              </a:ext>
            </a:extLst>
          </p:cNvPr>
          <p:cNvSpPr>
            <a:spLocks/>
          </p:cNvSpPr>
          <p:nvPr/>
        </p:nvSpPr>
        <p:spPr>
          <a:xfrm>
            <a:off x="6520168" y="4670318"/>
            <a:ext cx="865775" cy="40788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单模态</a:t>
            </a:r>
            <a:endParaRPr lang="en-US" altLang="zh-CN" sz="1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学生模型</a:t>
            </a:r>
          </a:p>
        </p:txBody>
      </p: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C62DA31C-98D3-491E-A849-856545D46E51}"/>
              </a:ext>
            </a:extLst>
          </p:cNvPr>
          <p:cNvCxnSpPr>
            <a:cxnSpLocks/>
            <a:stCxn id="15" idx="1"/>
            <a:endCxn id="18" idx="1"/>
          </p:cNvCxnSpPr>
          <p:nvPr/>
        </p:nvCxnSpPr>
        <p:spPr>
          <a:xfrm rot="10800000" flipV="1">
            <a:off x="3246725" y="2263809"/>
            <a:ext cx="12700" cy="2496426"/>
          </a:xfrm>
          <a:prstGeom prst="bentConnector3">
            <a:avLst>
              <a:gd name="adj1" fmla="val 1800000"/>
            </a:avLst>
          </a:prstGeom>
          <a:ln w="12700">
            <a:solidFill>
              <a:srgbClr val="B4C7E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连接符: 肘形 101">
            <a:extLst>
              <a:ext uri="{FF2B5EF4-FFF2-40B4-BE49-F238E27FC236}">
                <a16:creationId xmlns:a16="http://schemas.microsoft.com/office/drawing/2014/main" id="{8C2410D7-01F4-4270-B607-DE762EF0BC50}"/>
              </a:ext>
            </a:extLst>
          </p:cNvPr>
          <p:cNvCxnSpPr>
            <a:cxnSpLocks/>
            <a:stCxn id="15" idx="3"/>
            <a:endCxn id="54" idx="3"/>
          </p:cNvCxnSpPr>
          <p:nvPr/>
        </p:nvCxnSpPr>
        <p:spPr>
          <a:xfrm>
            <a:off x="8548267" y="2263809"/>
            <a:ext cx="13809" cy="1227284"/>
          </a:xfrm>
          <a:prstGeom prst="bentConnector3">
            <a:avLst>
              <a:gd name="adj1" fmla="val 1755442"/>
            </a:avLst>
          </a:prstGeom>
          <a:ln w="12700">
            <a:solidFill>
              <a:srgbClr val="B4C7E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0A74989B-21D0-4F41-AF5A-48E593B2CBAC}"/>
              </a:ext>
            </a:extLst>
          </p:cNvPr>
          <p:cNvGrpSpPr>
            <a:grpSpLocks/>
          </p:cNvGrpSpPr>
          <p:nvPr/>
        </p:nvGrpSpPr>
        <p:grpSpPr>
          <a:xfrm>
            <a:off x="1714760" y="2187999"/>
            <a:ext cx="1159580" cy="273133"/>
            <a:chOff x="1393267" y="2170520"/>
            <a:chExt cx="1159580" cy="27313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E29484C-FBBF-43C0-89FF-6267CD0A5CC9}"/>
                </a:ext>
              </a:extLst>
            </p:cNvPr>
            <p:cNvSpPr>
              <a:spLocks/>
            </p:cNvSpPr>
            <p:nvPr/>
          </p:nvSpPr>
          <p:spPr>
            <a:xfrm>
              <a:off x="1393267" y="2170520"/>
              <a:ext cx="1115973" cy="27313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D301A4F-705C-482E-9490-BF6E1E5C3127}"/>
                </a:ext>
              </a:extLst>
            </p:cNvPr>
            <p:cNvSpPr txBox="1">
              <a:spLocks/>
            </p:cNvSpPr>
            <p:nvPr/>
          </p:nvSpPr>
          <p:spPr>
            <a:xfrm>
              <a:off x="1401420" y="2173067"/>
              <a:ext cx="115142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5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临床数据稀缺性</a:t>
              </a:r>
            </a:p>
          </p:txBody>
        </p:sp>
      </p:grpSp>
      <p:sp>
        <p:nvSpPr>
          <p:cNvPr id="67" name="文本框 66">
            <a:extLst>
              <a:ext uri="{FF2B5EF4-FFF2-40B4-BE49-F238E27FC236}">
                <a16:creationId xmlns:a16="http://schemas.microsoft.com/office/drawing/2014/main" id="{07EB4BE8-C611-4B0B-8EC8-6CED072C77AA}"/>
              </a:ext>
            </a:extLst>
          </p:cNvPr>
          <p:cNvSpPr txBox="1">
            <a:spLocks/>
          </p:cNvSpPr>
          <p:nvPr/>
        </p:nvSpPr>
        <p:spPr>
          <a:xfrm>
            <a:off x="1095653" y="3162019"/>
            <a:ext cx="1783452" cy="5770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脑肿瘤与正常脑组织纹理相似、影像对比度较低而难以区分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9F6519E-EA3D-4971-88DE-B98054B8832D}"/>
              </a:ext>
            </a:extLst>
          </p:cNvPr>
          <p:cNvSpPr txBox="1">
            <a:spLocks/>
          </p:cNvSpPr>
          <p:nvPr/>
        </p:nvSpPr>
        <p:spPr>
          <a:xfrm>
            <a:off x="1077325" y="4273027"/>
            <a:ext cx="1797016" cy="253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单模态数据分类稳定性差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947952ED-D219-4428-BC00-C5298AB7AAB3}"/>
              </a:ext>
            </a:extLst>
          </p:cNvPr>
          <p:cNvGrpSpPr>
            <a:grpSpLocks/>
          </p:cNvGrpSpPr>
          <p:nvPr/>
        </p:nvGrpSpPr>
        <p:grpSpPr>
          <a:xfrm>
            <a:off x="8991052" y="1755515"/>
            <a:ext cx="1760713" cy="820393"/>
            <a:chOff x="8991053" y="1755515"/>
            <a:chExt cx="1662946" cy="820393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A7B2932C-5A9C-4758-8526-FF0EFA250A2F}"/>
                </a:ext>
              </a:extLst>
            </p:cNvPr>
            <p:cNvSpPr>
              <a:spLocks/>
            </p:cNvSpPr>
            <p:nvPr/>
          </p:nvSpPr>
          <p:spPr>
            <a:xfrm>
              <a:off x="9007807" y="1755515"/>
              <a:ext cx="1578645" cy="820393"/>
            </a:xfrm>
            <a:prstGeom prst="round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235A0689-5461-4B3F-A6EA-6F792F96A832}"/>
                </a:ext>
              </a:extLst>
            </p:cNvPr>
            <p:cNvSpPr txBox="1">
              <a:spLocks/>
            </p:cNvSpPr>
            <p:nvPr/>
          </p:nvSpPr>
          <p:spPr>
            <a:xfrm>
              <a:off x="8991053" y="1810696"/>
              <a:ext cx="166294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通过条件概率</a:t>
              </a:r>
              <a:r>
                <a:rPr lang="zh-CN" altLang="en-US" sz="1050" b="1" dirty="0">
                  <a:solidFill>
                    <a:srgbClr val="A71717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条件去噪扩散概率模型</a:t>
              </a:r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生成数据，增加模型所见样本多样性，作为</a:t>
              </a:r>
              <a:r>
                <a:rPr lang="zh-CN" altLang="en-US" sz="1050" b="1" dirty="0">
                  <a:solidFill>
                    <a:srgbClr val="A71717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数据增强</a:t>
              </a:r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策略</a:t>
              </a:r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C3F6D819-51BB-4010-BB94-82FC2F2E1A39}"/>
              </a:ext>
            </a:extLst>
          </p:cNvPr>
          <p:cNvGrpSpPr>
            <a:grpSpLocks/>
          </p:cNvGrpSpPr>
          <p:nvPr/>
        </p:nvGrpSpPr>
        <p:grpSpPr>
          <a:xfrm>
            <a:off x="8991052" y="2969714"/>
            <a:ext cx="1700427" cy="820393"/>
            <a:chOff x="8984794" y="1755515"/>
            <a:chExt cx="1700427" cy="820393"/>
          </a:xfrm>
        </p:grpSpPr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8757F93F-B417-425B-8707-F375CC2DFE3A}"/>
                </a:ext>
              </a:extLst>
            </p:cNvPr>
            <p:cNvSpPr>
              <a:spLocks/>
            </p:cNvSpPr>
            <p:nvPr/>
          </p:nvSpPr>
          <p:spPr>
            <a:xfrm>
              <a:off x="9007807" y="1755515"/>
              <a:ext cx="1677414" cy="820393"/>
            </a:xfrm>
            <a:prstGeom prst="round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493CA46B-2924-4719-852D-292FAB7659DB}"/>
                </a:ext>
              </a:extLst>
            </p:cNvPr>
            <p:cNvSpPr txBox="1">
              <a:spLocks/>
            </p:cNvSpPr>
            <p:nvPr/>
          </p:nvSpPr>
          <p:spPr>
            <a:xfrm>
              <a:off x="8984794" y="1793356"/>
              <a:ext cx="166294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提出一个基于</a:t>
              </a:r>
              <a:r>
                <a:rPr lang="zh-CN" altLang="en-US" sz="105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注意力的</a:t>
              </a:r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空间通道</a:t>
              </a:r>
              <a:r>
                <a:rPr lang="zh-CN" altLang="en-US" sz="105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双分支</a:t>
              </a:r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的脑肿瘤分类模型，克服单一模型架构的局限性</a:t>
              </a: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7AAEE648-4FE0-4C9F-87B4-B713E3AE0B63}"/>
              </a:ext>
            </a:extLst>
          </p:cNvPr>
          <p:cNvGrpSpPr>
            <a:grpSpLocks/>
          </p:cNvGrpSpPr>
          <p:nvPr/>
        </p:nvGrpSpPr>
        <p:grpSpPr>
          <a:xfrm>
            <a:off x="8952332" y="4217840"/>
            <a:ext cx="1671456" cy="820393"/>
            <a:chOff x="8961401" y="1755515"/>
            <a:chExt cx="1671456" cy="820393"/>
          </a:xfrm>
        </p:grpSpPr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6602DD7E-99FD-4116-9E56-F52ED523D353}"/>
                </a:ext>
              </a:extLst>
            </p:cNvPr>
            <p:cNvSpPr>
              <a:spLocks/>
            </p:cNvSpPr>
            <p:nvPr/>
          </p:nvSpPr>
          <p:spPr>
            <a:xfrm>
              <a:off x="9007807" y="1755515"/>
              <a:ext cx="1578645" cy="820393"/>
            </a:xfrm>
            <a:prstGeom prst="round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C70088FC-76A1-45AA-896B-BCB6B8FCC3CB}"/>
                </a:ext>
              </a:extLst>
            </p:cNvPr>
            <p:cNvSpPr txBox="1">
              <a:spLocks/>
            </p:cNvSpPr>
            <p:nvPr/>
          </p:nvSpPr>
          <p:spPr>
            <a:xfrm>
              <a:off x="8961401" y="1810702"/>
              <a:ext cx="167145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050" b="1" dirty="0">
                  <a:solidFill>
                    <a:srgbClr val="A71717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多模态数据融合，</a:t>
              </a:r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通过知识蒸馏，挖掘不同模态数据之间的互补性，</a:t>
              </a:r>
              <a:r>
                <a:rPr lang="zh-CN" altLang="en-US" sz="1050" b="1" dirty="0">
                  <a:solidFill>
                    <a:srgbClr val="A71717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提升分类性能</a:t>
              </a:r>
            </a:p>
          </p:txBody>
        </p:sp>
      </p:grpSp>
      <p:sp>
        <p:nvSpPr>
          <p:cNvPr id="85" name="文本框 84">
            <a:extLst>
              <a:ext uri="{FF2B5EF4-FFF2-40B4-BE49-F238E27FC236}">
                <a16:creationId xmlns:a16="http://schemas.microsoft.com/office/drawing/2014/main" id="{00B230FD-07E9-496D-8954-51114E9AB950}"/>
              </a:ext>
            </a:extLst>
          </p:cNvPr>
          <p:cNvSpPr txBox="1">
            <a:spLocks/>
          </p:cNvSpPr>
          <p:nvPr/>
        </p:nvSpPr>
        <p:spPr>
          <a:xfrm>
            <a:off x="6512623" y="2115315"/>
            <a:ext cx="81069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生成数据验证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C979A921-D38F-424C-B23F-DD240560D300}"/>
              </a:ext>
            </a:extLst>
          </p:cNvPr>
          <p:cNvSpPr txBox="1">
            <a:spLocks/>
          </p:cNvSpPr>
          <p:nvPr/>
        </p:nvSpPr>
        <p:spPr>
          <a:xfrm>
            <a:off x="7546391" y="2194905"/>
            <a:ext cx="9225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构造数据集</a:t>
            </a: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1C4762C7-9698-417C-A119-77AF8282A588}"/>
              </a:ext>
            </a:extLst>
          </p:cNvPr>
          <p:cNvSpPr>
            <a:spLocks/>
          </p:cNvSpPr>
          <p:nvPr/>
        </p:nvSpPr>
        <p:spPr>
          <a:xfrm>
            <a:off x="7657325" y="4629807"/>
            <a:ext cx="749889" cy="41573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5A5EFCBD-FD76-4617-AED3-29E530C06728}"/>
              </a:ext>
            </a:extLst>
          </p:cNvPr>
          <p:cNvSpPr txBox="1">
            <a:spLocks/>
          </p:cNvSpPr>
          <p:nvPr/>
        </p:nvSpPr>
        <p:spPr>
          <a:xfrm>
            <a:off x="7573056" y="4706589"/>
            <a:ext cx="9225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分类结果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39ABE69E-E126-4F65-B8BC-5EB8BA454CBC}"/>
              </a:ext>
            </a:extLst>
          </p:cNvPr>
          <p:cNvGrpSpPr>
            <a:grpSpLocks/>
          </p:cNvGrpSpPr>
          <p:nvPr/>
        </p:nvGrpSpPr>
        <p:grpSpPr>
          <a:xfrm>
            <a:off x="1924331" y="1266272"/>
            <a:ext cx="825951" cy="253916"/>
            <a:chOff x="1522255" y="1242211"/>
            <a:chExt cx="825951" cy="253916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0975EA32-DA88-4E03-90FD-41C7D2947040}"/>
                </a:ext>
              </a:extLst>
            </p:cNvPr>
            <p:cNvSpPr>
              <a:spLocks/>
            </p:cNvSpPr>
            <p:nvPr/>
          </p:nvSpPr>
          <p:spPr>
            <a:xfrm>
              <a:off x="1522255" y="1251225"/>
              <a:ext cx="825951" cy="2358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E3FE4177-B8F0-46FD-875F-B219DF74DED9}"/>
                </a:ext>
              </a:extLst>
            </p:cNvPr>
            <p:cNvSpPr txBox="1">
              <a:spLocks/>
            </p:cNvSpPr>
            <p:nvPr/>
          </p:nvSpPr>
          <p:spPr>
            <a:xfrm>
              <a:off x="1577281" y="1242211"/>
              <a:ext cx="74794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5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关键问题</a:t>
              </a:r>
            </a:p>
          </p:txBody>
        </p:sp>
      </p:grpSp>
      <p:sp>
        <p:nvSpPr>
          <p:cNvPr id="104" name="矩形 103">
            <a:extLst>
              <a:ext uri="{FF2B5EF4-FFF2-40B4-BE49-F238E27FC236}">
                <a16:creationId xmlns:a16="http://schemas.microsoft.com/office/drawing/2014/main" id="{901A47F6-6514-4894-81D4-F2951E9FDDC4}"/>
              </a:ext>
            </a:extLst>
          </p:cNvPr>
          <p:cNvSpPr>
            <a:spLocks/>
          </p:cNvSpPr>
          <p:nvPr/>
        </p:nvSpPr>
        <p:spPr>
          <a:xfrm>
            <a:off x="9332891" y="1251225"/>
            <a:ext cx="825951" cy="2358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BED15261-68F6-480D-B0DE-71826548A2BD}"/>
              </a:ext>
            </a:extLst>
          </p:cNvPr>
          <p:cNvSpPr txBox="1">
            <a:spLocks/>
          </p:cNvSpPr>
          <p:nvPr/>
        </p:nvSpPr>
        <p:spPr>
          <a:xfrm>
            <a:off x="9367544" y="1233197"/>
            <a:ext cx="7479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研究目标</a:t>
            </a: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93D4A02A-12F7-42B0-9D7C-833B431A26CE}"/>
              </a:ext>
            </a:extLst>
          </p:cNvPr>
          <p:cNvSpPr txBox="1">
            <a:spLocks/>
          </p:cNvSpPr>
          <p:nvPr/>
        </p:nvSpPr>
        <p:spPr>
          <a:xfrm>
            <a:off x="3801551" y="1042402"/>
            <a:ext cx="53015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基于生成式数据增强和深度学习的脑肿瘤图像分类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F9E59FCD-B8C0-4B2E-A80B-F305BD461BC0}"/>
              </a:ext>
            </a:extLst>
          </p:cNvPr>
          <p:cNvSpPr txBox="1">
            <a:spLocks/>
          </p:cNvSpPr>
          <p:nvPr/>
        </p:nvSpPr>
        <p:spPr>
          <a:xfrm>
            <a:off x="5583478" y="1423061"/>
            <a:ext cx="7479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研究内容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31587446-65BB-4F7B-9E7A-491D2CE28C72}"/>
              </a:ext>
            </a:extLst>
          </p:cNvPr>
          <p:cNvSpPr txBox="1">
            <a:spLocks/>
          </p:cNvSpPr>
          <p:nvPr/>
        </p:nvSpPr>
        <p:spPr>
          <a:xfrm>
            <a:off x="4266658" y="2132339"/>
            <a:ext cx="90645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050" b="1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条件去噪扩散概率模型</a:t>
            </a:r>
            <a:endParaRPr lang="zh-CN" altLang="zh-CN" sz="1050" dirty="0">
              <a:effectLst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A3047BC-E160-3887-0D5B-FB78B16241D9}"/>
              </a:ext>
            </a:extLst>
          </p:cNvPr>
          <p:cNvGrpSpPr/>
          <p:nvPr/>
        </p:nvGrpSpPr>
        <p:grpSpPr>
          <a:xfrm>
            <a:off x="4241079" y="4489548"/>
            <a:ext cx="1151767" cy="612029"/>
            <a:chOff x="4628940" y="5753145"/>
            <a:chExt cx="1151767" cy="612029"/>
          </a:xfrm>
        </p:grpSpPr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FF9F8AEE-56DB-4F47-A312-C3E04D16BDF9}"/>
                </a:ext>
              </a:extLst>
            </p:cNvPr>
            <p:cNvSpPr>
              <a:spLocks/>
            </p:cNvSpPr>
            <p:nvPr/>
          </p:nvSpPr>
          <p:spPr>
            <a:xfrm>
              <a:off x="4628940" y="5753145"/>
              <a:ext cx="954538" cy="46346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6F673148-5D0E-4890-80F1-7FD562E12F59}"/>
                </a:ext>
              </a:extLst>
            </p:cNvPr>
            <p:cNvSpPr txBox="1">
              <a:spLocks/>
            </p:cNvSpPr>
            <p:nvPr/>
          </p:nvSpPr>
          <p:spPr>
            <a:xfrm>
              <a:off x="4674591" y="5765010"/>
              <a:ext cx="110611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模态特异性</a:t>
              </a:r>
              <a:endParaRPr lang="en-US" altLang="zh-CN" sz="11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11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特征提取</a:t>
              </a:r>
            </a:p>
            <a:p>
              <a:endParaRPr lang="zh-CN" altLang="en-US" sz="1100" dirty="0"/>
            </a:p>
          </p:txBody>
        </p:sp>
      </p:grpSp>
      <p:sp>
        <p:nvSpPr>
          <p:cNvPr id="128" name="箭头: 右 127">
            <a:extLst>
              <a:ext uri="{FF2B5EF4-FFF2-40B4-BE49-F238E27FC236}">
                <a16:creationId xmlns:a16="http://schemas.microsoft.com/office/drawing/2014/main" id="{DE9B8CDF-F788-46FD-8CB7-09EE827EF8AA}"/>
              </a:ext>
            </a:extLst>
          </p:cNvPr>
          <p:cNvSpPr>
            <a:spLocks/>
          </p:cNvSpPr>
          <p:nvPr/>
        </p:nvSpPr>
        <p:spPr>
          <a:xfrm>
            <a:off x="3968391" y="4812322"/>
            <a:ext cx="198521" cy="15039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EEBB5B5-D2D0-87AE-D01A-B06720315C2B}"/>
              </a:ext>
            </a:extLst>
          </p:cNvPr>
          <p:cNvGrpSpPr/>
          <p:nvPr/>
        </p:nvGrpSpPr>
        <p:grpSpPr>
          <a:xfrm>
            <a:off x="3842378" y="3157673"/>
            <a:ext cx="4680803" cy="824159"/>
            <a:chOff x="3140063" y="5753775"/>
            <a:chExt cx="4707216" cy="825548"/>
          </a:xfrm>
        </p:grpSpPr>
        <p:sp>
          <p:nvSpPr>
            <p:cNvPr id="120" name="矩形: 圆角 119">
              <a:extLst>
                <a:ext uri="{FF2B5EF4-FFF2-40B4-BE49-F238E27FC236}">
                  <a16:creationId xmlns:a16="http://schemas.microsoft.com/office/drawing/2014/main" id="{7E0ECB24-575B-4407-9449-A715EA9E0636}"/>
                </a:ext>
              </a:extLst>
            </p:cNvPr>
            <p:cNvSpPr>
              <a:spLocks/>
            </p:cNvSpPr>
            <p:nvPr/>
          </p:nvSpPr>
          <p:spPr>
            <a:xfrm>
              <a:off x="4550769" y="5784424"/>
              <a:ext cx="756108" cy="309957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2" name="矩形: 圆角 111">
              <a:extLst>
                <a:ext uri="{FF2B5EF4-FFF2-40B4-BE49-F238E27FC236}">
                  <a16:creationId xmlns:a16="http://schemas.microsoft.com/office/drawing/2014/main" id="{D8DFD91B-12F3-4D84-8541-39437D246394}"/>
                </a:ext>
              </a:extLst>
            </p:cNvPr>
            <p:cNvSpPr>
              <a:spLocks/>
            </p:cNvSpPr>
            <p:nvPr/>
          </p:nvSpPr>
          <p:spPr>
            <a:xfrm>
              <a:off x="3393980" y="5758090"/>
              <a:ext cx="828691" cy="350162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664AE5D2-FABF-4C73-9EDE-18963B6F5ACB}"/>
                </a:ext>
              </a:extLst>
            </p:cNvPr>
            <p:cNvSpPr txBox="1">
              <a:spLocks/>
            </p:cNvSpPr>
            <p:nvPr/>
          </p:nvSpPr>
          <p:spPr>
            <a:xfrm>
              <a:off x="3277428" y="5804708"/>
              <a:ext cx="110611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ctr" rtl="0" eaLnBrk="1" latinLnBrk="0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 b="1" kern="1200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空间注意力</a:t>
              </a:r>
              <a:endParaRPr lang="zh-CN" altLang="zh-CN" sz="1050" dirty="0">
                <a:effectLst/>
              </a:endParaRPr>
            </a:p>
          </p:txBody>
        </p:sp>
        <p:sp>
          <p:nvSpPr>
            <p:cNvPr id="114" name="箭头: 右 113">
              <a:extLst>
                <a:ext uri="{FF2B5EF4-FFF2-40B4-BE49-F238E27FC236}">
                  <a16:creationId xmlns:a16="http://schemas.microsoft.com/office/drawing/2014/main" id="{053C8813-A5E2-4C14-B922-2866BD3BD27D}"/>
                </a:ext>
              </a:extLst>
            </p:cNvPr>
            <p:cNvSpPr>
              <a:spLocks/>
            </p:cNvSpPr>
            <p:nvPr/>
          </p:nvSpPr>
          <p:spPr>
            <a:xfrm>
              <a:off x="3140063" y="6099129"/>
              <a:ext cx="198521" cy="15039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53A4B22A-EB84-4BE1-9716-29FC4A64FA2F}"/>
                </a:ext>
              </a:extLst>
            </p:cNvPr>
            <p:cNvSpPr txBox="1">
              <a:spLocks/>
            </p:cNvSpPr>
            <p:nvPr/>
          </p:nvSpPr>
          <p:spPr>
            <a:xfrm>
              <a:off x="4523478" y="5782230"/>
              <a:ext cx="8106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空间特征</a:t>
              </a:r>
            </a:p>
          </p:txBody>
        </p:sp>
        <p:sp>
          <p:nvSpPr>
            <p:cNvPr id="122" name="矩形: 圆角 121">
              <a:extLst>
                <a:ext uri="{FF2B5EF4-FFF2-40B4-BE49-F238E27FC236}">
                  <a16:creationId xmlns:a16="http://schemas.microsoft.com/office/drawing/2014/main" id="{737702F2-5A60-4B48-B702-4D4B5FAC4A93}"/>
                </a:ext>
              </a:extLst>
            </p:cNvPr>
            <p:cNvSpPr>
              <a:spLocks/>
            </p:cNvSpPr>
            <p:nvPr/>
          </p:nvSpPr>
          <p:spPr>
            <a:xfrm>
              <a:off x="5650533" y="5753775"/>
              <a:ext cx="868752" cy="782094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3" name="箭头: 右 122">
              <a:extLst>
                <a:ext uri="{FF2B5EF4-FFF2-40B4-BE49-F238E27FC236}">
                  <a16:creationId xmlns:a16="http://schemas.microsoft.com/office/drawing/2014/main" id="{96E3ADEA-9DA8-41C0-8764-040F55A0BCC4}"/>
                </a:ext>
              </a:extLst>
            </p:cNvPr>
            <p:cNvSpPr>
              <a:spLocks/>
            </p:cNvSpPr>
            <p:nvPr/>
          </p:nvSpPr>
          <p:spPr>
            <a:xfrm>
              <a:off x="5366297" y="6102668"/>
              <a:ext cx="198521" cy="15039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5" name="箭头: 右 124">
              <a:extLst>
                <a:ext uri="{FF2B5EF4-FFF2-40B4-BE49-F238E27FC236}">
                  <a16:creationId xmlns:a16="http://schemas.microsoft.com/office/drawing/2014/main" id="{C221BCDF-27D7-4C50-9061-5874859FEB96}"/>
                </a:ext>
              </a:extLst>
            </p:cNvPr>
            <p:cNvSpPr>
              <a:spLocks/>
            </p:cNvSpPr>
            <p:nvPr/>
          </p:nvSpPr>
          <p:spPr>
            <a:xfrm>
              <a:off x="6655623" y="6075236"/>
              <a:ext cx="198521" cy="15039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6" name="矩形: 圆角 125">
              <a:extLst>
                <a:ext uri="{FF2B5EF4-FFF2-40B4-BE49-F238E27FC236}">
                  <a16:creationId xmlns:a16="http://schemas.microsoft.com/office/drawing/2014/main" id="{A25B4261-0C27-49EA-AC61-293D55DDFFB0}"/>
                </a:ext>
              </a:extLst>
            </p:cNvPr>
            <p:cNvSpPr>
              <a:spLocks/>
            </p:cNvSpPr>
            <p:nvPr/>
          </p:nvSpPr>
          <p:spPr>
            <a:xfrm>
              <a:off x="6982068" y="5873090"/>
              <a:ext cx="749889" cy="41573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DF94D38C-AB80-4916-A27B-ECB3F11E3E0F}"/>
                </a:ext>
              </a:extLst>
            </p:cNvPr>
            <p:cNvSpPr txBox="1">
              <a:spLocks/>
            </p:cNvSpPr>
            <p:nvPr/>
          </p:nvSpPr>
          <p:spPr>
            <a:xfrm>
              <a:off x="6924740" y="5951803"/>
              <a:ext cx="92253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分类结果</a:t>
              </a:r>
            </a:p>
          </p:txBody>
        </p:sp>
        <p:sp>
          <p:nvSpPr>
            <p:cNvPr id="3" name="矩形: 圆角 111">
              <a:extLst>
                <a:ext uri="{FF2B5EF4-FFF2-40B4-BE49-F238E27FC236}">
                  <a16:creationId xmlns:a16="http://schemas.microsoft.com/office/drawing/2014/main" id="{A8641E8C-262E-63ED-D44C-231481CED581}"/>
                </a:ext>
              </a:extLst>
            </p:cNvPr>
            <p:cNvSpPr/>
            <p:nvPr/>
          </p:nvSpPr>
          <p:spPr>
            <a:xfrm>
              <a:off x="3393980" y="6223283"/>
              <a:ext cx="828691" cy="350162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68161B4-BB0C-4FF8-2180-72BA8B49134D}"/>
                </a:ext>
              </a:extLst>
            </p:cNvPr>
            <p:cNvSpPr txBox="1"/>
            <p:nvPr/>
          </p:nvSpPr>
          <p:spPr>
            <a:xfrm>
              <a:off x="3292093" y="6281953"/>
              <a:ext cx="110611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ctr" rtl="0" eaLnBrk="1" latinLnBrk="0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通道</a:t>
              </a:r>
              <a:r>
                <a:rPr lang="zh-CN" altLang="en-US" sz="1050" b="1" kern="1200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注意力</a:t>
              </a:r>
              <a:endParaRPr lang="zh-CN" altLang="zh-CN" sz="1050" dirty="0">
                <a:effectLst/>
              </a:endParaRPr>
            </a:p>
          </p:txBody>
        </p:sp>
        <p:sp>
          <p:nvSpPr>
            <p:cNvPr id="22" name="矩形: 圆角 119">
              <a:extLst>
                <a:ext uri="{FF2B5EF4-FFF2-40B4-BE49-F238E27FC236}">
                  <a16:creationId xmlns:a16="http://schemas.microsoft.com/office/drawing/2014/main" id="{595D1688-CA79-83EB-DD2E-2B18BFF6270B}"/>
                </a:ext>
              </a:extLst>
            </p:cNvPr>
            <p:cNvSpPr/>
            <p:nvPr/>
          </p:nvSpPr>
          <p:spPr>
            <a:xfrm>
              <a:off x="4550769" y="6269366"/>
              <a:ext cx="756108" cy="309957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60E1FF5-D8B6-6B49-9BF4-FCE33ABC7FC3}"/>
                </a:ext>
              </a:extLst>
            </p:cNvPr>
            <p:cNvSpPr txBox="1"/>
            <p:nvPr/>
          </p:nvSpPr>
          <p:spPr>
            <a:xfrm>
              <a:off x="4542935" y="6281953"/>
              <a:ext cx="8106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b="1" dirty="0">
                  <a:latin typeface="宋体" panose="02010600030101010101" pitchFamily="2" charset="-122"/>
                  <a:ea typeface="宋体" panose="02010600030101010101" pitchFamily="2" charset="-122"/>
                </a:rPr>
                <a:t>通道特征</a:t>
              </a:r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89F5F36A-E9CA-DBAF-949E-0528465D7CF7}"/>
                </a:ext>
              </a:extLst>
            </p:cNvPr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38087" y="5863748"/>
              <a:ext cx="756108" cy="151310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45D06D06-6621-BF5A-8E06-BD4C22E6C049}"/>
                </a:ext>
              </a:extLst>
            </p:cNvPr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24427" y="6273747"/>
              <a:ext cx="868752" cy="146150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AFE0E61A-AD8E-A21F-C29D-2CD9D1C8AB95}"/>
                </a:ext>
              </a:extLst>
            </p:cNvPr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61973" y="6080959"/>
              <a:ext cx="245872" cy="152400"/>
            </a:xfrm>
            <a:prstGeom prst="rect">
              <a:avLst/>
            </a:prstGeom>
          </p:spPr>
        </p:pic>
        <p:sp>
          <p:nvSpPr>
            <p:cNvPr id="33" name="箭头: 右 110">
              <a:extLst>
                <a:ext uri="{FF2B5EF4-FFF2-40B4-BE49-F238E27FC236}">
                  <a16:creationId xmlns:a16="http://schemas.microsoft.com/office/drawing/2014/main" id="{98CF704D-07DA-DA86-1253-130403EC2D4F}"/>
                </a:ext>
              </a:extLst>
            </p:cNvPr>
            <p:cNvSpPr>
              <a:spLocks/>
            </p:cNvSpPr>
            <p:nvPr/>
          </p:nvSpPr>
          <p:spPr>
            <a:xfrm>
              <a:off x="4318174" y="6102223"/>
              <a:ext cx="198521" cy="15039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pic>
        <p:nvPicPr>
          <p:cNvPr id="39" name="图片 38">
            <a:extLst>
              <a:ext uri="{FF2B5EF4-FFF2-40B4-BE49-F238E27FC236}">
                <a16:creationId xmlns:a16="http://schemas.microsoft.com/office/drawing/2014/main" id="{93FCCCEC-4515-516A-9F95-39D57E924471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b="5423"/>
          <a:stretch/>
        </p:blipFill>
        <p:spPr>
          <a:xfrm rot="10800000">
            <a:off x="3358689" y="3601093"/>
            <a:ext cx="404352" cy="27721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FE679F73-4BDA-4044-E3AE-5911C26C0D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3154" y="3188339"/>
            <a:ext cx="389887" cy="32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427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B3D4F9AC-DD34-47DC-8669-D9408AA30416}"/>
              </a:ext>
            </a:extLst>
          </p:cNvPr>
          <p:cNvGrpSpPr/>
          <p:nvPr/>
        </p:nvGrpSpPr>
        <p:grpSpPr>
          <a:xfrm>
            <a:off x="111639" y="-69850"/>
            <a:ext cx="12196020" cy="6820663"/>
            <a:chOff x="111639" y="0"/>
            <a:chExt cx="12196020" cy="6820663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DB95BC71-A32C-49C1-96D7-A36642E7C5FF}"/>
                </a:ext>
              </a:extLst>
            </p:cNvPr>
            <p:cNvSpPr/>
            <p:nvPr/>
          </p:nvSpPr>
          <p:spPr>
            <a:xfrm>
              <a:off x="2104353" y="906428"/>
              <a:ext cx="1325880" cy="23957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FD1A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1" name="组合 280">
              <a:extLst>
                <a:ext uri="{FF2B5EF4-FFF2-40B4-BE49-F238E27FC236}">
                  <a16:creationId xmlns:a16="http://schemas.microsoft.com/office/drawing/2014/main" id="{FCB09F30-81E7-49BD-A284-5F07402D9E3E}"/>
                </a:ext>
              </a:extLst>
            </p:cNvPr>
            <p:cNvGrpSpPr/>
            <p:nvPr/>
          </p:nvGrpSpPr>
          <p:grpSpPr>
            <a:xfrm>
              <a:off x="111639" y="0"/>
              <a:ext cx="12196020" cy="6820663"/>
              <a:chOff x="158361" y="0"/>
              <a:chExt cx="12196020" cy="6820663"/>
            </a:xfrm>
          </p:grpSpPr>
          <p:sp>
            <p:nvSpPr>
              <p:cNvPr id="279" name="矩形: 圆角 278">
                <a:extLst>
                  <a:ext uri="{FF2B5EF4-FFF2-40B4-BE49-F238E27FC236}">
                    <a16:creationId xmlns:a16="http://schemas.microsoft.com/office/drawing/2014/main" id="{55E04FC6-85F4-44D0-9291-1CFC38F8E2DE}"/>
                  </a:ext>
                </a:extLst>
              </p:cNvPr>
              <p:cNvSpPr/>
              <p:nvPr/>
            </p:nvSpPr>
            <p:spPr>
              <a:xfrm>
                <a:off x="6618386" y="4952177"/>
                <a:ext cx="5501096" cy="1868486"/>
              </a:xfrm>
              <a:prstGeom prst="roundRect">
                <a:avLst/>
              </a:prstGeom>
              <a:noFill/>
              <a:ln w="28575">
                <a:solidFill>
                  <a:srgbClr val="A71717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" name="矩形: 圆角 254">
                <a:extLst>
                  <a:ext uri="{FF2B5EF4-FFF2-40B4-BE49-F238E27FC236}">
                    <a16:creationId xmlns:a16="http://schemas.microsoft.com/office/drawing/2014/main" id="{3BC35EDC-2BB5-4634-8186-FA20C270EBAB}"/>
                  </a:ext>
                </a:extLst>
              </p:cNvPr>
              <p:cNvSpPr/>
              <p:nvPr/>
            </p:nvSpPr>
            <p:spPr>
              <a:xfrm>
                <a:off x="525613" y="4038209"/>
                <a:ext cx="2623091" cy="2639780"/>
              </a:xfrm>
              <a:prstGeom prst="roundRect">
                <a:avLst/>
              </a:prstGeom>
              <a:noFill/>
              <a:ln w="28575">
                <a:solidFill>
                  <a:schemeClr val="tx1">
                    <a:lumMod val="95000"/>
                    <a:lumOff val="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" name="矩形: 圆角 232">
                <a:extLst>
                  <a:ext uri="{FF2B5EF4-FFF2-40B4-BE49-F238E27FC236}">
                    <a16:creationId xmlns:a16="http://schemas.microsoft.com/office/drawing/2014/main" id="{0BAD1B96-FCC3-4E8C-A2BE-2295FF31D9B6}"/>
                  </a:ext>
                </a:extLst>
              </p:cNvPr>
              <p:cNvSpPr/>
              <p:nvPr/>
            </p:nvSpPr>
            <p:spPr>
              <a:xfrm>
                <a:off x="158361" y="3853827"/>
                <a:ext cx="6175023" cy="2951006"/>
              </a:xfrm>
              <a:prstGeom prst="roundRect">
                <a:avLst/>
              </a:prstGeom>
              <a:noFill/>
              <a:ln w="28575">
                <a:solidFill>
                  <a:srgbClr val="AE99D7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" name="矩形: 圆角 209">
                <a:extLst>
                  <a:ext uri="{FF2B5EF4-FFF2-40B4-BE49-F238E27FC236}">
                    <a16:creationId xmlns:a16="http://schemas.microsoft.com/office/drawing/2014/main" id="{C7ABFA93-FAB4-4613-8561-10AF43D6F586}"/>
                  </a:ext>
                </a:extLst>
              </p:cNvPr>
              <p:cNvSpPr/>
              <p:nvPr/>
            </p:nvSpPr>
            <p:spPr>
              <a:xfrm>
                <a:off x="6625987" y="2602379"/>
                <a:ext cx="5501096" cy="2296681"/>
              </a:xfrm>
              <a:prstGeom prst="roundRect">
                <a:avLst/>
              </a:prstGeom>
              <a:noFill/>
              <a:ln w="28575">
                <a:solidFill>
                  <a:schemeClr val="accent2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" name="矩形: 圆角 182">
                <a:extLst>
                  <a:ext uri="{FF2B5EF4-FFF2-40B4-BE49-F238E27FC236}">
                    <a16:creationId xmlns:a16="http://schemas.microsoft.com/office/drawing/2014/main" id="{478227B1-4124-4F79-AC31-C24E35074B23}"/>
                  </a:ext>
                </a:extLst>
              </p:cNvPr>
              <p:cNvSpPr/>
              <p:nvPr/>
            </p:nvSpPr>
            <p:spPr>
              <a:xfrm>
                <a:off x="6605260" y="0"/>
                <a:ext cx="5486024" cy="2562421"/>
              </a:xfrm>
              <a:prstGeom prst="roundRect">
                <a:avLst/>
              </a:prstGeom>
              <a:noFill/>
              <a:ln w="28575">
                <a:solidFill>
                  <a:srgbClr val="90B2D2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58" name="组合 157">
                <a:extLst>
                  <a:ext uri="{FF2B5EF4-FFF2-40B4-BE49-F238E27FC236}">
                    <a16:creationId xmlns:a16="http://schemas.microsoft.com/office/drawing/2014/main" id="{80FA5AB1-D671-4A9B-B159-F45E0B1E07E1}"/>
                  </a:ext>
                </a:extLst>
              </p:cNvPr>
              <p:cNvGrpSpPr/>
              <p:nvPr/>
            </p:nvGrpSpPr>
            <p:grpSpPr>
              <a:xfrm>
                <a:off x="177485" y="6002"/>
                <a:ext cx="6196534" cy="3750943"/>
                <a:chOff x="177486" y="70010"/>
                <a:chExt cx="8897131" cy="5670579"/>
              </a:xfrm>
            </p:grpSpPr>
            <p:sp>
              <p:nvSpPr>
                <p:cNvPr id="149" name="矩形: 圆角 148">
                  <a:extLst>
                    <a:ext uri="{FF2B5EF4-FFF2-40B4-BE49-F238E27FC236}">
                      <a16:creationId xmlns:a16="http://schemas.microsoft.com/office/drawing/2014/main" id="{03D99FD1-B347-44F2-9E8E-B0EBB1881035}"/>
                    </a:ext>
                  </a:extLst>
                </p:cNvPr>
                <p:cNvSpPr/>
                <p:nvPr/>
              </p:nvSpPr>
              <p:spPr>
                <a:xfrm>
                  <a:off x="177486" y="70010"/>
                  <a:ext cx="8851392" cy="5670579"/>
                </a:xfrm>
                <a:prstGeom prst="roundRect">
                  <a:avLst/>
                </a:prstGeom>
                <a:noFill/>
                <a:ln w="28575">
                  <a:solidFill>
                    <a:srgbClr val="AFD1A0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" name="矩形: 圆角 39">
                  <a:extLst>
                    <a:ext uri="{FF2B5EF4-FFF2-40B4-BE49-F238E27FC236}">
                      <a16:creationId xmlns:a16="http://schemas.microsoft.com/office/drawing/2014/main" id="{72543051-4EEB-4794-BCCA-8C3EB4FCE3B4}"/>
                    </a:ext>
                  </a:extLst>
                </p:cNvPr>
                <p:cNvSpPr/>
                <p:nvPr/>
              </p:nvSpPr>
              <p:spPr>
                <a:xfrm>
                  <a:off x="1349085" y="1583070"/>
                  <a:ext cx="1190321" cy="4014216"/>
                </a:xfrm>
                <a:prstGeom prst="roundRect">
                  <a:avLst/>
                </a:prstGeom>
                <a:noFill/>
                <a:ln w="28575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0C2431BC-540A-44A9-979E-EE116CBC1617}"/>
                    </a:ext>
                  </a:extLst>
                </p:cNvPr>
                <p:cNvSpPr txBox="1"/>
                <p:nvPr/>
              </p:nvSpPr>
              <p:spPr>
                <a:xfrm>
                  <a:off x="544427" y="600947"/>
                  <a:ext cx="4044028" cy="4187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扩散模型数据集构建</a:t>
                  </a:r>
                </a:p>
              </p:txBody>
            </p:sp>
            <p:grpSp>
              <p:nvGrpSpPr>
                <p:cNvPr id="42" name="组合 41">
                  <a:extLst>
                    <a:ext uri="{FF2B5EF4-FFF2-40B4-BE49-F238E27FC236}">
                      <a16:creationId xmlns:a16="http://schemas.microsoft.com/office/drawing/2014/main" id="{98997D5E-D7C8-45A4-9DF5-51B330125228}"/>
                    </a:ext>
                  </a:extLst>
                </p:cNvPr>
                <p:cNvGrpSpPr/>
                <p:nvPr/>
              </p:nvGrpSpPr>
              <p:grpSpPr>
                <a:xfrm>
                  <a:off x="1421371" y="2295081"/>
                  <a:ext cx="1095226" cy="1072643"/>
                  <a:chOff x="1494415" y="2065323"/>
                  <a:chExt cx="1095226" cy="1072643"/>
                </a:xfrm>
              </p:grpSpPr>
              <p:pic>
                <p:nvPicPr>
                  <p:cNvPr id="14" name="图片 13">
                    <a:extLst>
                      <a:ext uri="{FF2B5EF4-FFF2-40B4-BE49-F238E27FC236}">
                        <a16:creationId xmlns:a16="http://schemas.microsoft.com/office/drawing/2014/main" id="{51EC4C99-F52D-4D0E-A5CF-E9449E6AFBAA}"/>
                      </a:ext>
                    </a:extLst>
                  </p:cNvPr>
                  <p:cNvPicPr>
                    <a:picLocks/>
                  </p:cNvPicPr>
                  <p:nvPr/>
                </p:nvPicPr>
                <p:blipFill rotWithShape="1">
                  <a:blip r:embed="rId2"/>
                  <a:srcRect b="5423"/>
                  <a:stretch/>
                </p:blipFill>
                <p:spPr>
                  <a:xfrm rot="10800000">
                    <a:off x="1568427" y="2065323"/>
                    <a:ext cx="916045" cy="710331"/>
                  </a:xfrm>
                  <a:prstGeom prst="rect">
                    <a:avLst/>
                  </a:prstGeom>
                </p:spPr>
              </p:pic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BC924D73-68B0-45CC-858E-D23B81F5AD64}"/>
                      </a:ext>
                    </a:extLst>
                  </p:cNvPr>
                  <p:cNvSpPr txBox="1"/>
                  <p:nvPr/>
                </p:nvSpPr>
                <p:spPr>
                  <a:xfrm>
                    <a:off x="1494415" y="2742471"/>
                    <a:ext cx="1095226" cy="39549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zh-CN"/>
                    </a:defPPr>
                    <a:lvl1pPr>
                      <a:defRPr b="1"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1pPr>
                  </a:lstStyle>
                  <a:p>
                    <a:r>
                      <a:rPr lang="zh-CN" altLang="en-US" sz="1100" b="0" dirty="0"/>
                      <a:t>公开数据</a:t>
                    </a:r>
                  </a:p>
                </p:txBody>
              </p:sp>
            </p:grpSp>
            <p:grpSp>
              <p:nvGrpSpPr>
                <p:cNvPr id="41" name="组合 40">
                  <a:extLst>
                    <a:ext uri="{FF2B5EF4-FFF2-40B4-BE49-F238E27FC236}">
                      <a16:creationId xmlns:a16="http://schemas.microsoft.com/office/drawing/2014/main" id="{1555FDFA-32A5-4AE1-859F-80809A53111A}"/>
                    </a:ext>
                  </a:extLst>
                </p:cNvPr>
                <p:cNvGrpSpPr/>
                <p:nvPr/>
              </p:nvGrpSpPr>
              <p:grpSpPr>
                <a:xfrm>
                  <a:off x="1442987" y="3995145"/>
                  <a:ext cx="1095227" cy="1121523"/>
                  <a:chOff x="1516031" y="5073199"/>
                  <a:chExt cx="1095227" cy="1121523"/>
                </a:xfrm>
              </p:grpSpPr>
              <p:pic>
                <p:nvPicPr>
                  <p:cNvPr id="20" name="图片 19">
                    <a:extLst>
                      <a:ext uri="{FF2B5EF4-FFF2-40B4-BE49-F238E27FC236}">
                        <a16:creationId xmlns:a16="http://schemas.microsoft.com/office/drawing/2014/main" id="{F9BBA8E2-B411-4086-83C6-5582EAAF27B7}"/>
                      </a:ext>
                    </a:extLst>
                  </p:cNvPr>
                  <p:cNvPicPr>
                    <a:picLocks/>
                  </p:cNvPicPr>
                  <p:nvPr/>
                </p:nvPicPr>
                <p:blipFill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533" t="8406" r="8209" b="5743"/>
                  <a:stretch/>
                </p:blipFill>
                <p:spPr>
                  <a:xfrm rot="16200000">
                    <a:off x="1650544" y="4991083"/>
                    <a:ext cx="753414" cy="917646"/>
                  </a:xfrm>
                  <a:prstGeom prst="rect">
                    <a:avLst/>
                  </a:prstGeom>
                </p:spPr>
              </p:pic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F5C02E5E-4459-4523-8F66-C7B96C34C790}"/>
                      </a:ext>
                    </a:extLst>
                  </p:cNvPr>
                  <p:cNvSpPr txBox="1"/>
                  <p:nvPr/>
                </p:nvSpPr>
                <p:spPr>
                  <a:xfrm>
                    <a:off x="1516031" y="5799227"/>
                    <a:ext cx="1095227" cy="39549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zh-CN"/>
                    </a:defPPr>
                    <a:lvl1pPr>
                      <a:defRPr sz="1100" b="0"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1pPr>
                  </a:lstStyle>
                  <a:p>
                    <a:r>
                      <a:rPr lang="zh-CN" altLang="en-US" dirty="0"/>
                      <a:t>临床数据</a:t>
                    </a:r>
                  </a:p>
                </p:txBody>
              </p:sp>
            </p:grpSp>
            <p:pic>
              <p:nvPicPr>
                <p:cNvPr id="31" name="图片 30">
                  <a:extLst>
                    <a:ext uri="{FF2B5EF4-FFF2-40B4-BE49-F238E27FC236}">
                      <a16:creationId xmlns:a16="http://schemas.microsoft.com/office/drawing/2014/main" id="{233DB20E-0170-45EA-873A-1FF64FF986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4009" y="2602371"/>
                  <a:ext cx="374405" cy="374406"/>
                </a:xfrm>
                <a:prstGeom prst="rect">
                  <a:avLst/>
                </a:prstGeom>
              </p:spPr>
            </p:pic>
            <p:sp>
              <p:nvSpPr>
                <p:cNvPr id="32" name="箭头: 右 31">
                  <a:extLst>
                    <a:ext uri="{FF2B5EF4-FFF2-40B4-BE49-F238E27FC236}">
                      <a16:creationId xmlns:a16="http://schemas.microsoft.com/office/drawing/2014/main" id="{F8157FD1-54A1-488D-A67E-7E5E287F70C5}"/>
                    </a:ext>
                  </a:extLst>
                </p:cNvPr>
                <p:cNvSpPr/>
                <p:nvPr/>
              </p:nvSpPr>
              <p:spPr>
                <a:xfrm>
                  <a:off x="901293" y="2661806"/>
                  <a:ext cx="274320" cy="255534"/>
                </a:xfrm>
                <a:prstGeom prst="rightArrow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37" name="图片 36">
                  <a:extLst>
                    <a:ext uri="{FF2B5EF4-FFF2-40B4-BE49-F238E27FC236}">
                      <a16:creationId xmlns:a16="http://schemas.microsoft.com/office/drawing/2014/main" id="{F1F777D4-5175-4319-B145-CE3AEF6479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4009" y="4097315"/>
                  <a:ext cx="441105" cy="441105"/>
                </a:xfrm>
                <a:prstGeom prst="rect">
                  <a:avLst/>
                </a:prstGeom>
              </p:spPr>
            </p:pic>
            <p:sp>
              <p:nvSpPr>
                <p:cNvPr id="38" name="箭头: 右 37">
                  <a:extLst>
                    <a:ext uri="{FF2B5EF4-FFF2-40B4-BE49-F238E27FC236}">
                      <a16:creationId xmlns:a16="http://schemas.microsoft.com/office/drawing/2014/main" id="{43383DE8-F923-43B6-9DB2-AB49702F2F8A}"/>
                    </a:ext>
                  </a:extLst>
                </p:cNvPr>
                <p:cNvSpPr/>
                <p:nvPr/>
              </p:nvSpPr>
              <p:spPr>
                <a:xfrm>
                  <a:off x="901293" y="4220228"/>
                  <a:ext cx="274320" cy="255534"/>
                </a:xfrm>
                <a:prstGeom prst="rightArrow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箭头: 右 38">
                  <a:extLst>
                    <a:ext uri="{FF2B5EF4-FFF2-40B4-BE49-F238E27FC236}">
                      <a16:creationId xmlns:a16="http://schemas.microsoft.com/office/drawing/2014/main" id="{3873C28B-F636-4464-A2DC-2E89B2A5272D}"/>
                    </a:ext>
                  </a:extLst>
                </p:cNvPr>
                <p:cNvSpPr/>
                <p:nvPr/>
              </p:nvSpPr>
              <p:spPr>
                <a:xfrm>
                  <a:off x="2772814" y="3260994"/>
                  <a:ext cx="384048" cy="329184"/>
                </a:xfrm>
                <a:prstGeom prst="rightArrow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5" name="组合 44">
                  <a:extLst>
                    <a:ext uri="{FF2B5EF4-FFF2-40B4-BE49-F238E27FC236}">
                      <a16:creationId xmlns:a16="http://schemas.microsoft.com/office/drawing/2014/main" id="{DCC169CE-8173-4EEE-BC04-0558D5C8D02C}"/>
                    </a:ext>
                  </a:extLst>
                </p:cNvPr>
                <p:cNvGrpSpPr/>
                <p:nvPr/>
              </p:nvGrpSpPr>
              <p:grpSpPr>
                <a:xfrm>
                  <a:off x="3215261" y="2383370"/>
                  <a:ext cx="1545336" cy="564129"/>
                  <a:chOff x="3474794" y="2108335"/>
                  <a:chExt cx="1545336" cy="564129"/>
                </a:xfrm>
              </p:grpSpPr>
              <p:sp>
                <p:nvSpPr>
                  <p:cNvPr id="43" name="流程图: 磁盘 42">
                    <a:extLst>
                      <a:ext uri="{FF2B5EF4-FFF2-40B4-BE49-F238E27FC236}">
                        <a16:creationId xmlns:a16="http://schemas.microsoft.com/office/drawing/2014/main" id="{8C3600AB-68FE-4BF8-89F9-074ADF459586}"/>
                      </a:ext>
                    </a:extLst>
                  </p:cNvPr>
                  <p:cNvSpPr/>
                  <p:nvPr/>
                </p:nvSpPr>
                <p:spPr>
                  <a:xfrm>
                    <a:off x="3489800" y="2108335"/>
                    <a:ext cx="1371598" cy="556144"/>
                  </a:xfrm>
                  <a:prstGeom prst="flowChartMagneticDisk">
                    <a:avLst/>
                  </a:prstGeom>
                </p:spPr>
                <p:style>
                  <a:lnRef idx="1">
                    <a:schemeClr val="accent6"/>
                  </a:lnRef>
                  <a:fillRef idx="2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" name="文本框 43">
                    <a:extLst>
                      <a:ext uri="{FF2B5EF4-FFF2-40B4-BE49-F238E27FC236}">
                        <a16:creationId xmlns:a16="http://schemas.microsoft.com/office/drawing/2014/main" id="{B855A4B1-5378-4D15-B8F4-8A49405ACEA4}"/>
                      </a:ext>
                    </a:extLst>
                  </p:cNvPr>
                  <p:cNvSpPr txBox="1"/>
                  <p:nvPr/>
                </p:nvSpPr>
                <p:spPr>
                  <a:xfrm>
                    <a:off x="3474794" y="2276969"/>
                    <a:ext cx="1545336" cy="39549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公开数据训练</a:t>
                    </a:r>
                  </a:p>
                </p:txBody>
              </p:sp>
            </p:grpSp>
            <p:pic>
              <p:nvPicPr>
                <p:cNvPr id="52" name="图片 51">
                  <a:extLst>
                    <a:ext uri="{FF2B5EF4-FFF2-40B4-BE49-F238E27FC236}">
                      <a16:creationId xmlns:a16="http://schemas.microsoft.com/office/drawing/2014/main" id="{4CF371B0-5354-45C3-AF20-2F148A9CA4B2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2"/>
                <a:srcRect b="5423"/>
                <a:stretch/>
              </p:blipFill>
              <p:spPr>
                <a:xfrm rot="10800000">
                  <a:off x="6126518" y="310825"/>
                  <a:ext cx="940552" cy="724810"/>
                </a:xfrm>
                <a:prstGeom prst="rect">
                  <a:avLst/>
                </a:prstGeom>
              </p:spPr>
            </p:pic>
            <p:pic>
              <p:nvPicPr>
                <p:cNvPr id="55" name="图片 54">
                  <a:extLst>
                    <a:ext uri="{FF2B5EF4-FFF2-40B4-BE49-F238E27FC236}">
                      <a16:creationId xmlns:a16="http://schemas.microsoft.com/office/drawing/2014/main" id="{A9F17E21-F99F-43E4-88FE-DF06776C694B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2"/>
                <a:srcRect b="5423"/>
                <a:stretch/>
              </p:blipFill>
              <p:spPr>
                <a:xfrm rot="10800000">
                  <a:off x="6248395" y="398992"/>
                  <a:ext cx="916045" cy="710331"/>
                </a:xfrm>
                <a:prstGeom prst="rect">
                  <a:avLst/>
                </a:prstGeom>
              </p:spPr>
            </p:pic>
            <p:pic>
              <p:nvPicPr>
                <p:cNvPr id="58" name="图片 57">
                  <a:extLst>
                    <a:ext uri="{FF2B5EF4-FFF2-40B4-BE49-F238E27FC236}">
                      <a16:creationId xmlns:a16="http://schemas.microsoft.com/office/drawing/2014/main" id="{F54E53A3-C776-4506-B9B9-1C3C8394D8C8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2"/>
                <a:srcRect b="5423"/>
                <a:stretch/>
              </p:blipFill>
              <p:spPr>
                <a:xfrm rot="10800000">
                  <a:off x="6452892" y="485885"/>
                  <a:ext cx="916045" cy="710331"/>
                </a:xfrm>
                <a:prstGeom prst="rect">
                  <a:avLst/>
                </a:prstGeom>
              </p:spPr>
            </p:pic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A14BBCD2-D560-4A34-8110-8F13A96AEEBC}"/>
                    </a:ext>
                  </a:extLst>
                </p:cNvPr>
                <p:cNvSpPr txBox="1"/>
                <p:nvPr/>
              </p:nvSpPr>
              <p:spPr>
                <a:xfrm>
                  <a:off x="7533431" y="1713528"/>
                  <a:ext cx="1317057" cy="3954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0"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</a:lstStyle>
                <a:p>
                  <a:r>
                    <a:rPr lang="zh-CN" altLang="en-US" dirty="0"/>
                    <a:t>生成数据集</a:t>
                  </a:r>
                </a:p>
              </p:txBody>
            </p:sp>
            <p:pic>
              <p:nvPicPr>
                <p:cNvPr id="63" name="图片 62">
                  <a:extLst>
                    <a:ext uri="{FF2B5EF4-FFF2-40B4-BE49-F238E27FC236}">
                      <a16:creationId xmlns:a16="http://schemas.microsoft.com/office/drawing/2014/main" id="{8095C813-ECE7-4325-9B4E-8819B0092422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sharpenSoften amount="50000"/>
                          </a14:imgEffect>
                          <a14:imgEffect>
                            <a14:brightnessContrast bright="20000" contrast="2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6209300" y="1238327"/>
                  <a:ext cx="753413" cy="950400"/>
                </a:xfrm>
                <a:prstGeom prst="rect">
                  <a:avLst/>
                </a:prstGeom>
              </p:spPr>
            </p:pic>
            <p:pic>
              <p:nvPicPr>
                <p:cNvPr id="65" name="图片 64">
                  <a:extLst>
                    <a:ext uri="{FF2B5EF4-FFF2-40B4-BE49-F238E27FC236}">
                      <a16:creationId xmlns:a16="http://schemas.microsoft.com/office/drawing/2014/main" id="{A1BBC2A0-010B-4D88-9359-FC5EB8BED077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sharpenSoften amount="50000"/>
                          </a14:imgEffect>
                          <a14:imgEffect>
                            <a14:brightnessContrast bright="20000" contrast="2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6353416" y="1298627"/>
                  <a:ext cx="753413" cy="950400"/>
                </a:xfrm>
                <a:prstGeom prst="rect">
                  <a:avLst/>
                </a:prstGeom>
              </p:spPr>
            </p:pic>
            <p:pic>
              <p:nvPicPr>
                <p:cNvPr id="66" name="图片 65">
                  <a:extLst>
                    <a:ext uri="{FF2B5EF4-FFF2-40B4-BE49-F238E27FC236}">
                      <a16:creationId xmlns:a16="http://schemas.microsoft.com/office/drawing/2014/main" id="{CDCD4F77-4EF2-4728-A37A-0BEBDBB7025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sharpenSoften amount="50000"/>
                          </a14:imgEffect>
                          <a14:imgEffect>
                            <a14:brightnessContrast bright="20000" contrast="2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6535259" y="1374349"/>
                  <a:ext cx="753413" cy="950400"/>
                </a:xfrm>
                <a:prstGeom prst="rect">
                  <a:avLst/>
                </a:prstGeom>
              </p:spPr>
            </p:pic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2B712034-B7F1-442C-A39B-F91A122F47C8}"/>
                    </a:ext>
                  </a:extLst>
                </p:cNvPr>
                <p:cNvSpPr txBox="1"/>
                <p:nvPr/>
              </p:nvSpPr>
              <p:spPr>
                <a:xfrm>
                  <a:off x="7503711" y="555938"/>
                  <a:ext cx="1570906" cy="3954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0"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</a:lstStyle>
                <a:p>
                  <a:r>
                    <a:rPr lang="zh-CN" altLang="en-US" dirty="0"/>
                    <a:t>临床数据集</a:t>
                  </a:r>
                  <a:r>
                    <a:rPr lang="en-US" altLang="zh-CN" dirty="0"/>
                    <a:t>1</a:t>
                  </a:r>
                  <a:endParaRPr lang="zh-CN" altLang="en-US" dirty="0"/>
                </a:p>
              </p:txBody>
            </p:sp>
            <p:pic>
              <p:nvPicPr>
                <p:cNvPr id="69" name="图片 68">
                  <a:extLst>
                    <a:ext uri="{FF2B5EF4-FFF2-40B4-BE49-F238E27FC236}">
                      <a16:creationId xmlns:a16="http://schemas.microsoft.com/office/drawing/2014/main" id="{EE3F065B-E37B-45B9-88A3-37F97E369C0C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2"/>
                <a:srcRect b="5423"/>
                <a:stretch/>
              </p:blipFill>
              <p:spPr>
                <a:xfrm rot="10800000">
                  <a:off x="6113007" y="2471487"/>
                  <a:ext cx="916045" cy="710331"/>
                </a:xfrm>
                <a:prstGeom prst="rect">
                  <a:avLst/>
                </a:prstGeom>
              </p:spPr>
            </p:pic>
            <p:pic>
              <p:nvPicPr>
                <p:cNvPr id="70" name="图片 69">
                  <a:extLst>
                    <a:ext uri="{FF2B5EF4-FFF2-40B4-BE49-F238E27FC236}">
                      <a16:creationId xmlns:a16="http://schemas.microsoft.com/office/drawing/2014/main" id="{17AC0F11-DD63-4A4B-BBFF-C75585A2DA4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sharpenSoften amount="50000"/>
                          </a14:imgEffect>
                          <a14:imgEffect>
                            <a14:brightnessContrast bright="20000" contrast="2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6392545" y="2451378"/>
                  <a:ext cx="753413" cy="950400"/>
                </a:xfrm>
                <a:prstGeom prst="rect">
                  <a:avLst/>
                </a:prstGeom>
              </p:spPr>
            </p:pic>
            <p:pic>
              <p:nvPicPr>
                <p:cNvPr id="71" name="图片 70">
                  <a:extLst>
                    <a:ext uri="{FF2B5EF4-FFF2-40B4-BE49-F238E27FC236}">
                      <a16:creationId xmlns:a16="http://schemas.microsoft.com/office/drawing/2014/main" id="{6F3C42F7-35CD-49C9-A8F0-946130E325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61842" y="2638903"/>
                  <a:ext cx="914400" cy="714375"/>
                </a:xfrm>
                <a:prstGeom prst="rect">
                  <a:avLst/>
                </a:prstGeom>
              </p:spPr>
            </p:pic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A5ED9415-EF83-4B2C-BCAC-CA5A750AFAB6}"/>
                    </a:ext>
                  </a:extLst>
                </p:cNvPr>
                <p:cNvSpPr txBox="1"/>
                <p:nvPr/>
              </p:nvSpPr>
              <p:spPr>
                <a:xfrm>
                  <a:off x="7543511" y="2826653"/>
                  <a:ext cx="1303326" cy="3954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0"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</a:lstStyle>
                <a:p>
                  <a:r>
                    <a:rPr lang="zh-CN" altLang="en-US" dirty="0"/>
                    <a:t>混合数据集</a:t>
                  </a:r>
                </a:p>
              </p:txBody>
            </p:sp>
            <p:sp>
              <p:nvSpPr>
                <p:cNvPr id="88" name="左大括号 87">
                  <a:extLst>
                    <a:ext uri="{FF2B5EF4-FFF2-40B4-BE49-F238E27FC236}">
                      <a16:creationId xmlns:a16="http://schemas.microsoft.com/office/drawing/2014/main" id="{9F1CD323-158B-4EE2-9906-CEBB36965DD4}"/>
                    </a:ext>
                  </a:extLst>
                </p:cNvPr>
                <p:cNvSpPr/>
                <p:nvPr/>
              </p:nvSpPr>
              <p:spPr>
                <a:xfrm>
                  <a:off x="5615084" y="493505"/>
                  <a:ext cx="301205" cy="2790033"/>
                </a:xfrm>
                <a:prstGeom prst="leftBrace">
                  <a:avLst>
                    <a:gd name="adj1" fmla="val 8333"/>
                    <a:gd name="adj2" fmla="val 49727"/>
                  </a:avLst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39A192D9-32AC-432C-A255-1DE07D8002F5}"/>
                    </a:ext>
                  </a:extLst>
                </p:cNvPr>
                <p:cNvSpPr txBox="1"/>
                <p:nvPr/>
              </p:nvSpPr>
              <p:spPr>
                <a:xfrm>
                  <a:off x="5248143" y="1380910"/>
                  <a:ext cx="508200" cy="1386252"/>
                </a:xfrm>
                <a:prstGeom prst="rect">
                  <a:avLst/>
                </a:prstGeom>
                <a:noFill/>
              </p:spPr>
              <p:txBody>
                <a:bodyPr vert="eaVert" wrap="square" rtlCol="0">
                  <a:spAutoFit/>
                </a:bodyPr>
                <a:lstStyle/>
                <a:p>
                  <a:r>
                    <a:rPr lang="zh-CN" altLang="en-US" sz="11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训练数据集</a:t>
                  </a:r>
                  <a:endPara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EF608994-5DF7-4959-8F62-0F9BF5D37C18}"/>
                    </a:ext>
                  </a:extLst>
                </p:cNvPr>
                <p:cNvSpPr txBox="1"/>
                <p:nvPr/>
              </p:nvSpPr>
              <p:spPr>
                <a:xfrm>
                  <a:off x="5266920" y="4241221"/>
                  <a:ext cx="508200" cy="1386252"/>
                </a:xfrm>
                <a:prstGeom prst="rect">
                  <a:avLst/>
                </a:prstGeom>
                <a:noFill/>
              </p:spPr>
              <p:txBody>
                <a:bodyPr vert="eaVert" wrap="square" rtlCol="0">
                  <a:spAutoFit/>
                </a:bodyPr>
                <a:lstStyle/>
                <a:p>
                  <a:r>
                    <a:rPr lang="zh-CN" altLang="en-US" sz="11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测试数据集</a:t>
                  </a:r>
                </a:p>
              </p:txBody>
            </p:sp>
            <p:pic>
              <p:nvPicPr>
                <p:cNvPr id="142" name="图片 141">
                  <a:extLst>
                    <a:ext uri="{FF2B5EF4-FFF2-40B4-BE49-F238E27FC236}">
                      <a16:creationId xmlns:a16="http://schemas.microsoft.com/office/drawing/2014/main" id="{2A31A84C-F792-4C6F-84C9-8A64E4F90AEB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533" t="8406" r="8209" b="5743"/>
                <a:stretch/>
              </p:blipFill>
              <p:spPr>
                <a:xfrm rot="16200000">
                  <a:off x="6214625" y="4295747"/>
                  <a:ext cx="753413" cy="917645"/>
                </a:xfrm>
                <a:prstGeom prst="rect">
                  <a:avLst/>
                </a:prstGeom>
              </p:spPr>
            </p:pic>
            <p:pic>
              <p:nvPicPr>
                <p:cNvPr id="144" name="图片 143">
                  <a:extLst>
                    <a:ext uri="{FF2B5EF4-FFF2-40B4-BE49-F238E27FC236}">
                      <a16:creationId xmlns:a16="http://schemas.microsoft.com/office/drawing/2014/main" id="{78F6CCC3-3621-44D8-80F3-7AAE1ACDE14D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533" t="8406" r="8209" b="5743"/>
                <a:stretch/>
              </p:blipFill>
              <p:spPr>
                <a:xfrm rot="16200000">
                  <a:off x="6364917" y="4356046"/>
                  <a:ext cx="753413" cy="917645"/>
                </a:xfrm>
                <a:prstGeom prst="rect">
                  <a:avLst/>
                </a:prstGeom>
              </p:spPr>
            </p:pic>
            <p:pic>
              <p:nvPicPr>
                <p:cNvPr id="145" name="图片 144">
                  <a:extLst>
                    <a:ext uri="{FF2B5EF4-FFF2-40B4-BE49-F238E27FC236}">
                      <a16:creationId xmlns:a16="http://schemas.microsoft.com/office/drawing/2014/main" id="{EA1CE64C-6D3D-428F-9B19-135F15B840B0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533" t="8406" r="8209" b="5743"/>
                <a:stretch/>
              </p:blipFill>
              <p:spPr>
                <a:xfrm rot="16200000">
                  <a:off x="6580918" y="4430462"/>
                  <a:ext cx="753413" cy="917645"/>
                </a:xfrm>
                <a:prstGeom prst="rect">
                  <a:avLst/>
                </a:prstGeom>
              </p:spPr>
            </p:pic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BA957DB5-AC36-4D11-B69A-5E50F16C0CC7}"/>
                    </a:ext>
                  </a:extLst>
                </p:cNvPr>
                <p:cNvSpPr txBox="1"/>
                <p:nvPr/>
              </p:nvSpPr>
              <p:spPr>
                <a:xfrm>
                  <a:off x="7502055" y="4749973"/>
                  <a:ext cx="1399747" cy="3954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0"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</a:lstStyle>
                <a:p>
                  <a:r>
                    <a:rPr lang="zh-CN" altLang="en-US" dirty="0"/>
                    <a:t>临床数据集</a:t>
                  </a:r>
                  <a:r>
                    <a:rPr lang="en-US" altLang="zh-CN" dirty="0"/>
                    <a:t>2</a:t>
                  </a:r>
                  <a:endParaRPr lang="zh-CN" altLang="en-US" dirty="0"/>
                </a:p>
              </p:txBody>
            </p:sp>
            <p:sp>
              <p:nvSpPr>
                <p:cNvPr id="150" name="箭头: 右 149">
                  <a:extLst>
                    <a:ext uri="{FF2B5EF4-FFF2-40B4-BE49-F238E27FC236}">
                      <a16:creationId xmlns:a16="http://schemas.microsoft.com/office/drawing/2014/main" id="{5D6CEB71-A8B1-4365-8090-04293FD589E7}"/>
                    </a:ext>
                  </a:extLst>
                </p:cNvPr>
                <p:cNvSpPr/>
                <p:nvPr/>
              </p:nvSpPr>
              <p:spPr>
                <a:xfrm>
                  <a:off x="4728053" y="3281036"/>
                  <a:ext cx="384048" cy="329184"/>
                </a:xfrm>
                <a:prstGeom prst="rightArrow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4" name="左大括号 153">
                  <a:extLst>
                    <a:ext uri="{FF2B5EF4-FFF2-40B4-BE49-F238E27FC236}">
                      <a16:creationId xmlns:a16="http://schemas.microsoft.com/office/drawing/2014/main" id="{4C52A067-A5C0-4030-A0DC-303894EC6239}"/>
                    </a:ext>
                  </a:extLst>
                </p:cNvPr>
                <p:cNvSpPr/>
                <p:nvPr/>
              </p:nvSpPr>
              <p:spPr>
                <a:xfrm>
                  <a:off x="5274608" y="2302730"/>
                  <a:ext cx="119260" cy="2370423"/>
                </a:xfrm>
                <a:prstGeom prst="leftBrac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56" name="直接箭头连接符 155">
                  <a:extLst>
                    <a:ext uri="{FF2B5EF4-FFF2-40B4-BE49-F238E27FC236}">
                      <a16:creationId xmlns:a16="http://schemas.microsoft.com/office/drawing/2014/main" id="{675837B8-8F6D-44F2-9A0F-41C810A128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95485" y="4684515"/>
                  <a:ext cx="376133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9" name="箭头: 右 158">
                <a:extLst>
                  <a:ext uri="{FF2B5EF4-FFF2-40B4-BE49-F238E27FC236}">
                    <a16:creationId xmlns:a16="http://schemas.microsoft.com/office/drawing/2014/main" id="{EE043007-841D-4545-B9DA-9D426ACBDB89}"/>
                  </a:ext>
                </a:extLst>
              </p:cNvPr>
              <p:cNvSpPr/>
              <p:nvPr/>
            </p:nvSpPr>
            <p:spPr>
              <a:xfrm>
                <a:off x="6302562" y="389334"/>
                <a:ext cx="387339" cy="122431"/>
              </a:xfrm>
              <a:prstGeom prst="rightArrow">
                <a:avLst/>
              </a:prstGeom>
              <a:gradFill flip="none" rotWithShape="1">
                <a:gsLst>
                  <a:gs pos="0">
                    <a:srgbClr val="AFD1A0"/>
                  </a:gs>
                  <a:gs pos="100000">
                    <a:schemeClr val="accent5">
                      <a:lumMod val="40000"/>
                      <a:lumOff val="60000"/>
                    </a:schemeClr>
                  </a:gs>
                </a:gsLst>
                <a:lin ang="2700000" scaled="1"/>
                <a:tileRect/>
              </a:gra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" name="箭头: 右 159">
                <a:extLst>
                  <a:ext uri="{FF2B5EF4-FFF2-40B4-BE49-F238E27FC236}">
                    <a16:creationId xmlns:a16="http://schemas.microsoft.com/office/drawing/2014/main" id="{FF9AB0F0-D413-4F48-9840-1714121953EB}"/>
                  </a:ext>
                </a:extLst>
              </p:cNvPr>
              <p:cNvSpPr/>
              <p:nvPr/>
            </p:nvSpPr>
            <p:spPr>
              <a:xfrm>
                <a:off x="6282739" y="1889438"/>
                <a:ext cx="387339" cy="122431"/>
              </a:xfrm>
              <a:prstGeom prst="rightArrow">
                <a:avLst/>
              </a:prstGeom>
              <a:gradFill flip="none" rotWithShape="1">
                <a:gsLst>
                  <a:gs pos="0">
                    <a:srgbClr val="AFD1A0"/>
                  </a:gs>
                  <a:gs pos="100000">
                    <a:schemeClr val="accent5">
                      <a:lumMod val="40000"/>
                      <a:lumOff val="60000"/>
                    </a:schemeClr>
                  </a:gs>
                </a:gsLst>
                <a:lin ang="2700000" scaled="1"/>
                <a:tileRect/>
              </a:gra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箭头: 右 160">
                <a:extLst>
                  <a:ext uri="{FF2B5EF4-FFF2-40B4-BE49-F238E27FC236}">
                    <a16:creationId xmlns:a16="http://schemas.microsoft.com/office/drawing/2014/main" id="{A6CD8EE3-544F-4D0B-9E27-480963E1DBBC}"/>
                  </a:ext>
                </a:extLst>
              </p:cNvPr>
              <p:cNvSpPr/>
              <p:nvPr/>
            </p:nvSpPr>
            <p:spPr>
              <a:xfrm>
                <a:off x="6299994" y="1195202"/>
                <a:ext cx="387339" cy="122431"/>
              </a:xfrm>
              <a:prstGeom prst="rightArrow">
                <a:avLst/>
              </a:prstGeom>
              <a:gradFill flip="none" rotWithShape="1">
                <a:gsLst>
                  <a:gs pos="0">
                    <a:srgbClr val="AFD1A0"/>
                  </a:gs>
                  <a:gs pos="100000">
                    <a:schemeClr val="accent5">
                      <a:lumMod val="40000"/>
                      <a:lumOff val="60000"/>
                    </a:schemeClr>
                  </a:gs>
                </a:gsLst>
                <a:lin ang="2700000" scaled="1"/>
                <a:tileRect/>
              </a:gra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" name="AutoShape 2" descr="The architecture of Unet.">
                <a:extLst>
                  <a:ext uri="{FF2B5EF4-FFF2-40B4-BE49-F238E27FC236}">
                    <a16:creationId xmlns:a16="http://schemas.microsoft.com/office/drawing/2014/main" id="{D7ADF2C6-68EC-499C-B0B8-E8D6E72351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943600" y="3221989"/>
                <a:ext cx="304800" cy="304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pic>
            <p:nvPicPr>
              <p:cNvPr id="163" name="图片 162">
                <a:extLst>
                  <a:ext uri="{FF2B5EF4-FFF2-40B4-BE49-F238E27FC236}">
                    <a16:creationId xmlns:a16="http://schemas.microsoft.com/office/drawing/2014/main" id="{D2ACE863-8AB1-4E4C-83F3-6B62808C89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21757" y="302624"/>
                <a:ext cx="2512479" cy="1564374"/>
              </a:xfrm>
              <a:prstGeom prst="rect">
                <a:avLst/>
              </a:prstGeom>
            </p:spPr>
          </p:pic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151396F8-072C-4063-BC1D-5B7F155419F6}"/>
                  </a:ext>
                </a:extLst>
              </p:cNvPr>
              <p:cNvSpPr txBox="1"/>
              <p:nvPr/>
            </p:nvSpPr>
            <p:spPr>
              <a:xfrm>
                <a:off x="7421339" y="1857377"/>
                <a:ext cx="8382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nnUNet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66" name="图片 165">
                <a:extLst>
                  <a:ext uri="{FF2B5EF4-FFF2-40B4-BE49-F238E27FC236}">
                    <a16:creationId xmlns:a16="http://schemas.microsoft.com/office/drawing/2014/main" id="{C47A6DCD-2376-4A2F-849B-51947EB6617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028282" y="185339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167" name="图片 166">
                <a:extLst>
                  <a:ext uri="{FF2B5EF4-FFF2-40B4-BE49-F238E27FC236}">
                    <a16:creationId xmlns:a16="http://schemas.microsoft.com/office/drawing/2014/main" id="{161C7BDF-B89E-4EA3-A9A3-F73CB2BF5AC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173062" y="257473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168" name="图片 167">
                <a:extLst>
                  <a:ext uri="{FF2B5EF4-FFF2-40B4-BE49-F238E27FC236}">
                    <a16:creationId xmlns:a16="http://schemas.microsoft.com/office/drawing/2014/main" id="{343D13DA-AD02-445B-B8B3-8C9366387F9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317842" y="329607"/>
                <a:ext cx="662090" cy="478624"/>
              </a:xfrm>
              <a:prstGeom prst="rect">
                <a:avLst/>
              </a:prstGeom>
            </p:spPr>
          </p:pic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4B40B9F8-6B79-408A-B475-1FABDBAB8F89}"/>
                  </a:ext>
                </a:extLst>
              </p:cNvPr>
              <p:cNvSpPr txBox="1"/>
              <p:nvPr/>
            </p:nvSpPr>
            <p:spPr>
              <a:xfrm>
                <a:off x="11037217" y="405405"/>
                <a:ext cx="131716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临床数据集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Mask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71" name="图片 170">
                <a:extLst>
                  <a:ext uri="{FF2B5EF4-FFF2-40B4-BE49-F238E27FC236}">
                    <a16:creationId xmlns:a16="http://schemas.microsoft.com/office/drawing/2014/main" id="{92A1B66B-2A4E-4639-AB1B-D77FD0C8F58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028282" y="898480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172" name="图片 171">
                <a:extLst>
                  <a:ext uri="{FF2B5EF4-FFF2-40B4-BE49-F238E27FC236}">
                    <a16:creationId xmlns:a16="http://schemas.microsoft.com/office/drawing/2014/main" id="{37395FF4-DF55-4844-84E6-7B46F9EE141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173062" y="970614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173" name="图片 172">
                <a:extLst>
                  <a:ext uri="{FF2B5EF4-FFF2-40B4-BE49-F238E27FC236}">
                    <a16:creationId xmlns:a16="http://schemas.microsoft.com/office/drawing/2014/main" id="{803B88EE-455D-4654-ADBF-7C7B3D4E1EB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317842" y="1042748"/>
                <a:ext cx="662090" cy="478624"/>
              </a:xfrm>
              <a:prstGeom prst="rect">
                <a:avLst/>
              </a:prstGeom>
            </p:spPr>
          </p:pic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D532D318-EE33-4EEF-88FD-F142C3DEF73D}"/>
                  </a:ext>
                </a:extLst>
              </p:cNvPr>
              <p:cNvSpPr txBox="1"/>
              <p:nvPr/>
            </p:nvSpPr>
            <p:spPr>
              <a:xfrm>
                <a:off x="11037217" y="1118546"/>
                <a:ext cx="106160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dirty="0"/>
                  <a:t>生成数据集</a:t>
                </a:r>
                <a:r>
                  <a:rPr lang="en-US" altLang="zh-CN" dirty="0"/>
                  <a:t>Mask</a:t>
                </a:r>
                <a:endParaRPr lang="zh-CN" altLang="en-US" dirty="0"/>
              </a:p>
            </p:txBody>
          </p:sp>
          <p:pic>
            <p:nvPicPr>
              <p:cNvPr id="176" name="图片 175">
                <a:extLst>
                  <a:ext uri="{FF2B5EF4-FFF2-40B4-BE49-F238E27FC236}">
                    <a16:creationId xmlns:a16="http://schemas.microsoft.com/office/drawing/2014/main" id="{EE0B2FAF-0175-4054-BAF7-9943775FCCD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028282" y="1627686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177" name="图片 176">
                <a:extLst>
                  <a:ext uri="{FF2B5EF4-FFF2-40B4-BE49-F238E27FC236}">
                    <a16:creationId xmlns:a16="http://schemas.microsoft.com/office/drawing/2014/main" id="{39A66F18-D414-4DE4-AC90-6FA6DB43098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173062" y="1699820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178" name="图片 177">
                <a:extLst>
                  <a:ext uri="{FF2B5EF4-FFF2-40B4-BE49-F238E27FC236}">
                    <a16:creationId xmlns:a16="http://schemas.microsoft.com/office/drawing/2014/main" id="{7A66B0BC-5A73-4D27-BBB9-E1533B44379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317842" y="1771954"/>
                <a:ext cx="662090" cy="478624"/>
              </a:xfrm>
              <a:prstGeom prst="rect">
                <a:avLst/>
              </a:prstGeom>
            </p:spPr>
          </p:pic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255CBC02-C5D4-4F08-9205-49937ABF2430}"/>
                  </a:ext>
                </a:extLst>
              </p:cNvPr>
              <p:cNvSpPr txBox="1"/>
              <p:nvPr/>
            </p:nvSpPr>
            <p:spPr>
              <a:xfrm>
                <a:off x="11037217" y="1847752"/>
                <a:ext cx="106160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dirty="0"/>
                  <a:t>混合数据集</a:t>
                </a:r>
                <a:r>
                  <a:rPr lang="en-US" altLang="zh-CN" dirty="0"/>
                  <a:t>Mask</a:t>
                </a:r>
                <a:endParaRPr lang="zh-CN" altLang="en-US" dirty="0"/>
              </a:p>
            </p:txBody>
          </p:sp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6E39C3B0-8461-4592-A99C-867E91BFF867}"/>
                  </a:ext>
                </a:extLst>
              </p:cNvPr>
              <p:cNvSpPr txBox="1"/>
              <p:nvPr/>
            </p:nvSpPr>
            <p:spPr>
              <a:xfrm>
                <a:off x="8750876" y="2179236"/>
                <a:ext cx="28165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 err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nnUNet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推理</a:t>
                </a:r>
                <a:r>
                  <a:rPr lang="en-US" altLang="zh-CN" sz="12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Mask</a:t>
                </a:r>
                <a:endParaRPr lang="zh-CN" altLang="en-US" sz="12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5" name="箭头: 右 184">
                <a:extLst>
                  <a:ext uri="{FF2B5EF4-FFF2-40B4-BE49-F238E27FC236}">
                    <a16:creationId xmlns:a16="http://schemas.microsoft.com/office/drawing/2014/main" id="{C0CE7B08-5212-4F38-A14A-A913F8845ED5}"/>
                  </a:ext>
                </a:extLst>
              </p:cNvPr>
              <p:cNvSpPr/>
              <p:nvPr/>
            </p:nvSpPr>
            <p:spPr>
              <a:xfrm rot="5400000">
                <a:off x="10462144" y="2551601"/>
                <a:ext cx="276999" cy="122431"/>
              </a:xfrm>
              <a:prstGeom prst="rightArrow">
                <a:avLst/>
              </a:prstGeom>
              <a:gradFill flip="none" rotWithShape="1">
                <a:gsLst>
                  <a:gs pos="0">
                    <a:srgbClr val="90B2D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2700000" scaled="1"/>
                <a:tileRect/>
              </a:gra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" name="箭头: 右 185">
                <a:extLst>
                  <a:ext uri="{FF2B5EF4-FFF2-40B4-BE49-F238E27FC236}">
                    <a16:creationId xmlns:a16="http://schemas.microsoft.com/office/drawing/2014/main" id="{42D7BA26-87B7-4C5A-B7B2-F5979CF60544}"/>
                  </a:ext>
                </a:extLst>
              </p:cNvPr>
              <p:cNvSpPr/>
              <p:nvPr/>
            </p:nvSpPr>
            <p:spPr>
              <a:xfrm>
                <a:off x="9436173" y="416455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" name="箭头: 右 186">
                <a:extLst>
                  <a:ext uri="{FF2B5EF4-FFF2-40B4-BE49-F238E27FC236}">
                    <a16:creationId xmlns:a16="http://schemas.microsoft.com/office/drawing/2014/main" id="{965FD2F6-E7C1-4373-96B2-427B7CEDBAD8}"/>
                  </a:ext>
                </a:extLst>
              </p:cNvPr>
              <p:cNvSpPr/>
              <p:nvPr/>
            </p:nvSpPr>
            <p:spPr>
              <a:xfrm>
                <a:off x="9435276" y="1055462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箭头: 右 187">
                <a:extLst>
                  <a:ext uri="{FF2B5EF4-FFF2-40B4-BE49-F238E27FC236}">
                    <a16:creationId xmlns:a16="http://schemas.microsoft.com/office/drawing/2014/main" id="{D9738476-F066-4713-BC97-2083741200DD}"/>
                  </a:ext>
                </a:extLst>
              </p:cNvPr>
              <p:cNvSpPr/>
              <p:nvPr/>
            </p:nvSpPr>
            <p:spPr>
              <a:xfrm>
                <a:off x="9435276" y="1738878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89" name="图片 188">
                <a:extLst>
                  <a:ext uri="{FF2B5EF4-FFF2-40B4-BE49-F238E27FC236}">
                    <a16:creationId xmlns:a16="http://schemas.microsoft.com/office/drawing/2014/main" id="{F9F74486-B6BB-4392-A138-BD80D5B754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392647" y="2951311"/>
                <a:ext cx="2512479" cy="1564374"/>
              </a:xfrm>
              <a:prstGeom prst="rect">
                <a:avLst/>
              </a:prstGeom>
            </p:spPr>
          </p:pic>
          <p:pic>
            <p:nvPicPr>
              <p:cNvPr id="193" name="图片 192">
                <a:extLst>
                  <a:ext uri="{FF2B5EF4-FFF2-40B4-BE49-F238E27FC236}">
                    <a16:creationId xmlns:a16="http://schemas.microsoft.com/office/drawing/2014/main" id="{406AC5D1-08EF-438B-BD6B-534F49ADB2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98648" y="165295"/>
                <a:ext cx="326123" cy="326123"/>
              </a:xfrm>
              <a:prstGeom prst="rect">
                <a:avLst/>
              </a:prstGeom>
            </p:spPr>
          </p:pic>
          <p:pic>
            <p:nvPicPr>
              <p:cNvPr id="182" name="图片 181">
                <a:extLst>
                  <a:ext uri="{FF2B5EF4-FFF2-40B4-BE49-F238E27FC236}">
                    <a16:creationId xmlns:a16="http://schemas.microsoft.com/office/drawing/2014/main" id="{76C07AC0-AF16-44F2-AA34-8D14F3B2D3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71181" y="2794177"/>
                <a:ext cx="333945" cy="333945"/>
              </a:xfrm>
              <a:prstGeom prst="rect">
                <a:avLst/>
              </a:prstGeom>
            </p:spPr>
          </p:pic>
          <p:sp>
            <p:nvSpPr>
              <p:cNvPr id="194" name="文本框 193">
                <a:extLst>
                  <a:ext uri="{FF2B5EF4-FFF2-40B4-BE49-F238E27FC236}">
                    <a16:creationId xmlns:a16="http://schemas.microsoft.com/office/drawing/2014/main" id="{12E778C9-62A8-4980-A5BB-6D23A0353F3D}"/>
                  </a:ext>
                </a:extLst>
              </p:cNvPr>
              <p:cNvSpPr txBox="1"/>
              <p:nvPr/>
            </p:nvSpPr>
            <p:spPr>
              <a:xfrm>
                <a:off x="10120328" y="4515685"/>
                <a:ext cx="8382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nnUNet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62C28F9D-E40B-4DB2-8307-66AC15433912}"/>
                  </a:ext>
                </a:extLst>
              </p:cNvPr>
              <p:cNvSpPr txBox="1"/>
              <p:nvPr/>
            </p:nvSpPr>
            <p:spPr>
              <a:xfrm>
                <a:off x="9294812" y="112335"/>
                <a:ext cx="5829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推理</a:t>
                </a:r>
              </a:p>
            </p:txBody>
          </p:sp>
          <p:sp>
            <p:nvSpPr>
              <p:cNvPr id="196" name="文本框 195">
                <a:extLst>
                  <a:ext uri="{FF2B5EF4-FFF2-40B4-BE49-F238E27FC236}">
                    <a16:creationId xmlns:a16="http://schemas.microsoft.com/office/drawing/2014/main" id="{1B8A511A-BF3E-4CBB-B0C6-6911F7DC46DC}"/>
                  </a:ext>
                </a:extLst>
              </p:cNvPr>
              <p:cNvSpPr txBox="1"/>
              <p:nvPr/>
            </p:nvSpPr>
            <p:spPr>
              <a:xfrm>
                <a:off x="8705803" y="2702374"/>
                <a:ext cx="5829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训练</a:t>
                </a:r>
              </a:p>
            </p:txBody>
          </p:sp>
          <p:sp>
            <p:nvSpPr>
              <p:cNvPr id="197" name="箭头: 右 196">
                <a:extLst>
                  <a:ext uri="{FF2B5EF4-FFF2-40B4-BE49-F238E27FC236}">
                    <a16:creationId xmlns:a16="http://schemas.microsoft.com/office/drawing/2014/main" id="{2B85DE24-CFEF-4C62-B23F-C301C101596F}"/>
                  </a:ext>
                </a:extLst>
              </p:cNvPr>
              <p:cNvSpPr/>
              <p:nvPr/>
            </p:nvSpPr>
            <p:spPr>
              <a:xfrm rot="10800000">
                <a:off x="8836668" y="3060152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" name="箭头: 右 197">
                <a:extLst>
                  <a:ext uri="{FF2B5EF4-FFF2-40B4-BE49-F238E27FC236}">
                    <a16:creationId xmlns:a16="http://schemas.microsoft.com/office/drawing/2014/main" id="{EC5BE60B-7970-4BBA-AA40-20BB527BDB3D}"/>
                  </a:ext>
                </a:extLst>
              </p:cNvPr>
              <p:cNvSpPr/>
              <p:nvPr/>
            </p:nvSpPr>
            <p:spPr>
              <a:xfrm rot="10800000">
                <a:off x="8847182" y="3551570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9" name="箭头: 右 198">
                <a:extLst>
                  <a:ext uri="{FF2B5EF4-FFF2-40B4-BE49-F238E27FC236}">
                    <a16:creationId xmlns:a16="http://schemas.microsoft.com/office/drawing/2014/main" id="{928C1922-440F-4762-BBD8-95256E446C2F}"/>
                  </a:ext>
                </a:extLst>
              </p:cNvPr>
              <p:cNvSpPr/>
              <p:nvPr/>
            </p:nvSpPr>
            <p:spPr>
              <a:xfrm rot="10800000">
                <a:off x="8847182" y="4067031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01" name="图片 200">
                <a:extLst>
                  <a:ext uri="{FF2B5EF4-FFF2-40B4-BE49-F238E27FC236}">
                    <a16:creationId xmlns:a16="http://schemas.microsoft.com/office/drawing/2014/main" id="{B173AAAF-CCF9-4069-825B-4D91E75F07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19210" y="2922463"/>
                <a:ext cx="478545" cy="478545"/>
              </a:xfrm>
              <a:prstGeom prst="rect">
                <a:avLst/>
              </a:prstGeom>
            </p:spPr>
          </p:pic>
          <p:pic>
            <p:nvPicPr>
              <p:cNvPr id="202" name="图片 201">
                <a:extLst>
                  <a:ext uri="{FF2B5EF4-FFF2-40B4-BE49-F238E27FC236}">
                    <a16:creationId xmlns:a16="http://schemas.microsoft.com/office/drawing/2014/main" id="{7189B5E3-B52A-424D-8674-A8C81BA52D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30120" y="3448068"/>
                <a:ext cx="478545" cy="478545"/>
              </a:xfrm>
              <a:prstGeom prst="rect">
                <a:avLst/>
              </a:prstGeom>
            </p:spPr>
          </p:pic>
          <p:pic>
            <p:nvPicPr>
              <p:cNvPr id="203" name="图片 202">
                <a:extLst>
                  <a:ext uri="{FF2B5EF4-FFF2-40B4-BE49-F238E27FC236}">
                    <a16:creationId xmlns:a16="http://schemas.microsoft.com/office/drawing/2014/main" id="{4A714382-BCDB-4FEC-AB74-D10D72A814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57000" y="3926613"/>
                <a:ext cx="478545" cy="478545"/>
              </a:xfrm>
              <a:prstGeom prst="rect">
                <a:avLst/>
              </a:prstGeom>
            </p:spPr>
          </p:pic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808C928D-03FA-42CD-82EB-CA22D156579E}"/>
                  </a:ext>
                </a:extLst>
              </p:cNvPr>
              <p:cNvSpPr txBox="1"/>
              <p:nvPr/>
            </p:nvSpPr>
            <p:spPr>
              <a:xfrm>
                <a:off x="6608741" y="3048079"/>
                <a:ext cx="182432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/>
                  <a:t>临床数据集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预训练模型</a:t>
                </a:r>
              </a:p>
            </p:txBody>
          </p:sp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60F3BB09-8DBE-4690-A0A6-D40C246D9CF3}"/>
                  </a:ext>
                </a:extLst>
              </p:cNvPr>
              <p:cNvSpPr txBox="1"/>
              <p:nvPr/>
            </p:nvSpPr>
            <p:spPr>
              <a:xfrm>
                <a:off x="6618386" y="3530851"/>
                <a:ext cx="160102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/>
                  <a:t>生成数据集预训练模型</a:t>
                </a:r>
              </a:p>
            </p:txBody>
          </p:sp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B1E8F578-E720-477B-800B-0EBE4997E547}"/>
                  </a:ext>
                </a:extLst>
              </p:cNvPr>
              <p:cNvSpPr txBox="1"/>
              <p:nvPr/>
            </p:nvSpPr>
            <p:spPr>
              <a:xfrm>
                <a:off x="6639817" y="4009389"/>
                <a:ext cx="160102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/>
                  <a:t>混合数据集预训练模型</a:t>
                </a:r>
              </a:p>
            </p:txBody>
          </p:sp>
          <p:pic>
            <p:nvPicPr>
              <p:cNvPr id="211" name="图片 210">
                <a:extLst>
                  <a:ext uri="{FF2B5EF4-FFF2-40B4-BE49-F238E27FC236}">
                    <a16:creationId xmlns:a16="http://schemas.microsoft.com/office/drawing/2014/main" id="{63A46923-9A45-43EF-B8C4-0487458119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07330" y="4653786"/>
                <a:ext cx="2512479" cy="1564374"/>
              </a:xfrm>
              <a:prstGeom prst="rect">
                <a:avLst/>
              </a:prstGeom>
            </p:spPr>
          </p:pic>
          <p:sp>
            <p:nvSpPr>
              <p:cNvPr id="212" name="文本框 211">
                <a:extLst>
                  <a:ext uri="{FF2B5EF4-FFF2-40B4-BE49-F238E27FC236}">
                    <a16:creationId xmlns:a16="http://schemas.microsoft.com/office/drawing/2014/main" id="{4756D44E-2C23-41ED-9C33-F6946DC38944}"/>
                  </a:ext>
                </a:extLst>
              </p:cNvPr>
              <p:cNvSpPr txBox="1"/>
              <p:nvPr/>
            </p:nvSpPr>
            <p:spPr>
              <a:xfrm>
                <a:off x="4406912" y="6208539"/>
                <a:ext cx="8382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nnUNet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13" name="图片 212">
                <a:extLst>
                  <a:ext uri="{FF2B5EF4-FFF2-40B4-BE49-F238E27FC236}">
                    <a16:creationId xmlns:a16="http://schemas.microsoft.com/office/drawing/2014/main" id="{A2DF6148-FF8E-4C70-ACA4-A254797626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4221" y="4516457"/>
                <a:ext cx="326123" cy="326123"/>
              </a:xfrm>
              <a:prstGeom prst="rect">
                <a:avLst/>
              </a:prstGeom>
            </p:spPr>
          </p:pic>
          <p:sp>
            <p:nvSpPr>
              <p:cNvPr id="214" name="箭头: 右 213">
                <a:extLst>
                  <a:ext uri="{FF2B5EF4-FFF2-40B4-BE49-F238E27FC236}">
                    <a16:creationId xmlns:a16="http://schemas.microsoft.com/office/drawing/2014/main" id="{EA1B5D61-9ED8-430B-A1F1-8EF170D88FCA}"/>
                  </a:ext>
                </a:extLst>
              </p:cNvPr>
              <p:cNvSpPr/>
              <p:nvPr/>
            </p:nvSpPr>
            <p:spPr>
              <a:xfrm rot="5400000">
                <a:off x="4642851" y="3746376"/>
                <a:ext cx="387339" cy="122431"/>
              </a:xfrm>
              <a:prstGeom prst="rightArrow">
                <a:avLst/>
              </a:prstGeom>
              <a:gradFill flip="none" rotWithShape="1">
                <a:gsLst>
                  <a:gs pos="0">
                    <a:srgbClr val="AFD1A0"/>
                  </a:gs>
                  <a:gs pos="100000">
                    <a:srgbClr val="AE99D7"/>
                  </a:gs>
                </a:gsLst>
                <a:lin ang="2700000" scaled="1"/>
                <a:tileRect/>
              </a:gra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" name="箭头: 右 214">
                <a:extLst>
                  <a:ext uri="{FF2B5EF4-FFF2-40B4-BE49-F238E27FC236}">
                    <a16:creationId xmlns:a16="http://schemas.microsoft.com/office/drawing/2014/main" id="{E5A4F728-BA4A-4C11-BE54-0D3CCDDEFCBA}"/>
                  </a:ext>
                </a:extLst>
              </p:cNvPr>
              <p:cNvSpPr/>
              <p:nvPr/>
            </p:nvSpPr>
            <p:spPr>
              <a:xfrm rot="10800000">
                <a:off x="6276782" y="4470906"/>
                <a:ext cx="387339" cy="122431"/>
              </a:xfrm>
              <a:prstGeom prst="rightArrow">
                <a:avLst/>
              </a:prstGeom>
              <a:gradFill flip="none" rotWithShape="1"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100000">
                    <a:srgbClr val="AE99D7"/>
                  </a:gs>
                </a:gsLst>
                <a:lin ang="2700000" scaled="1"/>
                <a:tileRect/>
              </a:gra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" name="文本框 215">
                <a:extLst>
                  <a:ext uri="{FF2B5EF4-FFF2-40B4-BE49-F238E27FC236}">
                    <a16:creationId xmlns:a16="http://schemas.microsoft.com/office/drawing/2014/main" id="{18CA493C-7BD8-410F-80EE-46C514D25DC7}"/>
                  </a:ext>
                </a:extLst>
              </p:cNvPr>
              <p:cNvSpPr txBox="1"/>
              <p:nvPr/>
            </p:nvSpPr>
            <p:spPr>
              <a:xfrm>
                <a:off x="8469540" y="4546463"/>
                <a:ext cx="28165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 err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nnUNet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训练模型</a:t>
                </a:r>
              </a:p>
            </p:txBody>
          </p:sp>
          <p:sp>
            <p:nvSpPr>
              <p:cNvPr id="217" name="文本框 216">
                <a:extLst>
                  <a:ext uri="{FF2B5EF4-FFF2-40B4-BE49-F238E27FC236}">
                    <a16:creationId xmlns:a16="http://schemas.microsoft.com/office/drawing/2014/main" id="{309FD013-96B3-4CD7-85D9-28A08B835242}"/>
                  </a:ext>
                </a:extLst>
              </p:cNvPr>
              <p:cNvSpPr txBox="1"/>
              <p:nvPr/>
            </p:nvSpPr>
            <p:spPr>
              <a:xfrm>
                <a:off x="3266448" y="6459587"/>
                <a:ext cx="17594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 err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nnUNet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推理</a:t>
                </a:r>
                <a:r>
                  <a:rPr lang="en-US" altLang="zh-CN" sz="12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Mask</a:t>
                </a:r>
                <a:endParaRPr lang="zh-CN" altLang="en-US" sz="12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8" name="箭头: 右 217">
                <a:extLst>
                  <a:ext uri="{FF2B5EF4-FFF2-40B4-BE49-F238E27FC236}">
                    <a16:creationId xmlns:a16="http://schemas.microsoft.com/office/drawing/2014/main" id="{859C0EFA-413A-4BD7-B2EC-E1C339D14ABE}"/>
                  </a:ext>
                </a:extLst>
              </p:cNvPr>
              <p:cNvSpPr/>
              <p:nvPr/>
            </p:nvSpPr>
            <p:spPr>
              <a:xfrm rot="10800000">
                <a:off x="3197056" y="4454373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" name="箭头: 右 218">
                <a:extLst>
                  <a:ext uri="{FF2B5EF4-FFF2-40B4-BE49-F238E27FC236}">
                    <a16:creationId xmlns:a16="http://schemas.microsoft.com/office/drawing/2014/main" id="{6D615AC1-3F59-46B1-AE8C-D0848C74CDB4}"/>
                  </a:ext>
                </a:extLst>
              </p:cNvPr>
              <p:cNvSpPr/>
              <p:nvPr/>
            </p:nvSpPr>
            <p:spPr>
              <a:xfrm rot="10800000">
                <a:off x="3200633" y="5243078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" name="箭头: 右 219">
                <a:extLst>
                  <a:ext uri="{FF2B5EF4-FFF2-40B4-BE49-F238E27FC236}">
                    <a16:creationId xmlns:a16="http://schemas.microsoft.com/office/drawing/2014/main" id="{2AF56801-74C8-4196-90DA-0710765F9056}"/>
                  </a:ext>
                </a:extLst>
              </p:cNvPr>
              <p:cNvSpPr/>
              <p:nvPr/>
            </p:nvSpPr>
            <p:spPr>
              <a:xfrm rot="10800000">
                <a:off x="3238154" y="6109286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21" name="图片 220">
                <a:extLst>
                  <a:ext uri="{FF2B5EF4-FFF2-40B4-BE49-F238E27FC236}">
                    <a16:creationId xmlns:a16="http://schemas.microsoft.com/office/drawing/2014/main" id="{528931F0-0821-4575-B06B-9F11BB1061A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798775" y="4192897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22" name="图片 221">
                <a:extLst>
                  <a:ext uri="{FF2B5EF4-FFF2-40B4-BE49-F238E27FC236}">
                    <a16:creationId xmlns:a16="http://schemas.microsoft.com/office/drawing/2014/main" id="{9431982C-065B-4FEB-AA56-750E71C4A8B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943555" y="4265031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23" name="图片 222">
                <a:extLst>
                  <a:ext uri="{FF2B5EF4-FFF2-40B4-BE49-F238E27FC236}">
                    <a16:creationId xmlns:a16="http://schemas.microsoft.com/office/drawing/2014/main" id="{6CBA0B65-A258-44DC-8ACC-45327313334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2088335" y="4337165"/>
                <a:ext cx="662090" cy="478624"/>
              </a:xfrm>
              <a:prstGeom prst="rect">
                <a:avLst/>
              </a:prstGeom>
            </p:spPr>
          </p:pic>
          <p:sp>
            <p:nvSpPr>
              <p:cNvPr id="224" name="文本框 223">
                <a:extLst>
                  <a:ext uri="{FF2B5EF4-FFF2-40B4-BE49-F238E27FC236}">
                    <a16:creationId xmlns:a16="http://schemas.microsoft.com/office/drawing/2014/main" id="{F8144CA2-5F67-4611-9638-24F668547EF2}"/>
                  </a:ext>
                </a:extLst>
              </p:cNvPr>
              <p:cNvSpPr txBox="1"/>
              <p:nvPr/>
            </p:nvSpPr>
            <p:spPr>
              <a:xfrm>
                <a:off x="547239" y="4183244"/>
                <a:ext cx="1273275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测试数据集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+</a:t>
                </a: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临床数据集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模型          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Mask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25" name="图片 224">
                <a:extLst>
                  <a:ext uri="{FF2B5EF4-FFF2-40B4-BE49-F238E27FC236}">
                    <a16:creationId xmlns:a16="http://schemas.microsoft.com/office/drawing/2014/main" id="{66C7D543-422B-47A5-910E-46365593C43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834585" y="5029345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26" name="图片 225">
                <a:extLst>
                  <a:ext uri="{FF2B5EF4-FFF2-40B4-BE49-F238E27FC236}">
                    <a16:creationId xmlns:a16="http://schemas.microsoft.com/office/drawing/2014/main" id="{F0A7DF4E-89C0-46EE-A1F8-7266103B0E8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979365" y="5101479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27" name="图片 226">
                <a:extLst>
                  <a:ext uri="{FF2B5EF4-FFF2-40B4-BE49-F238E27FC236}">
                    <a16:creationId xmlns:a16="http://schemas.microsoft.com/office/drawing/2014/main" id="{D6108C09-84BE-4B62-A226-7CBBF7A73AA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2124145" y="5173613"/>
                <a:ext cx="662090" cy="478624"/>
              </a:xfrm>
              <a:prstGeom prst="rect">
                <a:avLst/>
              </a:prstGeom>
            </p:spPr>
          </p:pic>
          <p:sp>
            <p:nvSpPr>
              <p:cNvPr id="228" name="文本框 227">
                <a:extLst>
                  <a:ext uri="{FF2B5EF4-FFF2-40B4-BE49-F238E27FC236}">
                    <a16:creationId xmlns:a16="http://schemas.microsoft.com/office/drawing/2014/main" id="{596D8D79-449E-46E9-823D-2C9FA1117043}"/>
                  </a:ext>
                </a:extLst>
              </p:cNvPr>
              <p:cNvSpPr txBox="1"/>
              <p:nvPr/>
            </p:nvSpPr>
            <p:spPr>
              <a:xfrm>
                <a:off x="583050" y="5019692"/>
                <a:ext cx="120536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测试数据集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+</a:t>
                </a: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生成数据集模型          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Mask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29" name="图片 228">
                <a:extLst>
                  <a:ext uri="{FF2B5EF4-FFF2-40B4-BE49-F238E27FC236}">
                    <a16:creationId xmlns:a16="http://schemas.microsoft.com/office/drawing/2014/main" id="{4F2845CD-BF10-4FDA-B77F-ED619D9D3CE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854010" y="5882548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30" name="图片 229">
                <a:extLst>
                  <a:ext uri="{FF2B5EF4-FFF2-40B4-BE49-F238E27FC236}">
                    <a16:creationId xmlns:a16="http://schemas.microsoft.com/office/drawing/2014/main" id="{A548997B-218C-4304-9D55-E4890BB0F86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998790" y="5954682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31" name="图片 230">
                <a:extLst>
                  <a:ext uri="{FF2B5EF4-FFF2-40B4-BE49-F238E27FC236}">
                    <a16:creationId xmlns:a16="http://schemas.microsoft.com/office/drawing/2014/main" id="{3CCDAC9D-5AB4-400D-9863-C327CA0BC08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2143570" y="6026816"/>
                <a:ext cx="662090" cy="478624"/>
              </a:xfrm>
              <a:prstGeom prst="rect">
                <a:avLst/>
              </a:prstGeom>
            </p:spPr>
          </p:pic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1E65F18D-7C08-48CD-9BBF-5C9E0B773FB3}"/>
                  </a:ext>
                </a:extLst>
              </p:cNvPr>
              <p:cNvSpPr txBox="1"/>
              <p:nvPr/>
            </p:nvSpPr>
            <p:spPr>
              <a:xfrm>
                <a:off x="602475" y="5872895"/>
                <a:ext cx="120536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测试数据集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+</a:t>
                </a: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混合数据集模型          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Mask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4" name="箭头: 右 233">
                <a:extLst>
                  <a:ext uri="{FF2B5EF4-FFF2-40B4-BE49-F238E27FC236}">
                    <a16:creationId xmlns:a16="http://schemas.microsoft.com/office/drawing/2014/main" id="{2441B362-1379-4E88-BED0-D5E4C673B762}"/>
                  </a:ext>
                </a:extLst>
              </p:cNvPr>
              <p:cNvSpPr/>
              <p:nvPr/>
            </p:nvSpPr>
            <p:spPr>
              <a:xfrm>
                <a:off x="6286360" y="6246054"/>
                <a:ext cx="387339" cy="122431"/>
              </a:xfrm>
              <a:prstGeom prst="rightArrow">
                <a:avLst/>
              </a:prstGeom>
              <a:gradFill flip="none" rotWithShape="1">
                <a:gsLst>
                  <a:gs pos="0">
                    <a:srgbClr val="AE99D7"/>
                  </a:gs>
                  <a:gs pos="100000">
                    <a:srgbClr val="A71717"/>
                  </a:gs>
                </a:gsLst>
                <a:lin ang="2700000" scaled="1"/>
                <a:tileRect/>
              </a:gra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35" name="图片 234">
                <a:extLst>
                  <a:ext uri="{FF2B5EF4-FFF2-40B4-BE49-F238E27FC236}">
                    <a16:creationId xmlns:a16="http://schemas.microsoft.com/office/drawing/2014/main" id="{25D3C67C-A0B1-4E8D-AA16-01AF320066F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6777645" y="5732822"/>
                <a:ext cx="680693" cy="478624"/>
              </a:xfrm>
              <a:prstGeom prst="rect">
                <a:avLst/>
              </a:prstGeom>
            </p:spPr>
          </p:pic>
          <p:pic>
            <p:nvPicPr>
              <p:cNvPr id="237" name="图片 236">
                <a:extLst>
                  <a:ext uri="{FF2B5EF4-FFF2-40B4-BE49-F238E27FC236}">
                    <a16:creationId xmlns:a16="http://schemas.microsoft.com/office/drawing/2014/main" id="{912770BE-43EA-4770-B8DC-05A02C44012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6916825" y="5838780"/>
                <a:ext cx="680693" cy="478624"/>
              </a:xfrm>
              <a:prstGeom prst="rect">
                <a:avLst/>
              </a:prstGeom>
            </p:spPr>
          </p:pic>
          <p:pic>
            <p:nvPicPr>
              <p:cNvPr id="236" name="图片 235">
                <a:extLst>
                  <a:ext uri="{FF2B5EF4-FFF2-40B4-BE49-F238E27FC236}">
                    <a16:creationId xmlns:a16="http://schemas.microsoft.com/office/drawing/2014/main" id="{AA07CBF4-2246-453D-B7A5-03E947F37C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7108690" y="5889861"/>
                <a:ext cx="680693" cy="478624"/>
              </a:xfrm>
              <a:prstGeom prst="rect">
                <a:avLst/>
              </a:prstGeom>
            </p:spPr>
          </p:pic>
          <p:pic>
            <p:nvPicPr>
              <p:cNvPr id="238" name="图片 237">
                <a:extLst>
                  <a:ext uri="{FF2B5EF4-FFF2-40B4-BE49-F238E27FC236}">
                    <a16:creationId xmlns:a16="http://schemas.microsoft.com/office/drawing/2014/main" id="{E0296B8A-2E7D-45A8-B6A3-A182B00A7AA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8256450" y="5090018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39" name="图片 238">
                <a:extLst>
                  <a:ext uri="{FF2B5EF4-FFF2-40B4-BE49-F238E27FC236}">
                    <a16:creationId xmlns:a16="http://schemas.microsoft.com/office/drawing/2014/main" id="{1EBA5BFE-D179-4B9F-A8F3-CB5D8E2BEF5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8395630" y="5195976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40" name="图片 239">
                <a:extLst>
                  <a:ext uri="{FF2B5EF4-FFF2-40B4-BE49-F238E27FC236}">
                    <a16:creationId xmlns:a16="http://schemas.microsoft.com/office/drawing/2014/main" id="{AE9A28D4-F4AE-45EC-95A0-5CDB16F0D6F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8587495" y="5247057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44" name="图片 243">
                <a:extLst>
                  <a:ext uri="{FF2B5EF4-FFF2-40B4-BE49-F238E27FC236}">
                    <a16:creationId xmlns:a16="http://schemas.microsoft.com/office/drawing/2014/main" id="{54ECBF9D-1CAA-4A03-89B0-1CC29A004E7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9672423" y="5098173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45" name="图片 244">
                <a:extLst>
                  <a:ext uri="{FF2B5EF4-FFF2-40B4-BE49-F238E27FC236}">
                    <a16:creationId xmlns:a16="http://schemas.microsoft.com/office/drawing/2014/main" id="{B7A29F1D-694C-42A0-AB86-7D1275D960C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9811603" y="5204131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46" name="图片 245">
                <a:extLst>
                  <a:ext uri="{FF2B5EF4-FFF2-40B4-BE49-F238E27FC236}">
                    <a16:creationId xmlns:a16="http://schemas.microsoft.com/office/drawing/2014/main" id="{9A46C6F7-32A1-4BEC-AF8F-8DC1E49F9E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003468" y="5255212"/>
                <a:ext cx="662090" cy="478624"/>
              </a:xfrm>
              <a:prstGeom prst="rect">
                <a:avLst/>
              </a:prstGeom>
            </p:spPr>
          </p:pic>
          <p:sp>
            <p:nvSpPr>
              <p:cNvPr id="251" name="文本框 250">
                <a:extLst>
                  <a:ext uri="{FF2B5EF4-FFF2-40B4-BE49-F238E27FC236}">
                    <a16:creationId xmlns:a16="http://schemas.microsoft.com/office/drawing/2014/main" id="{BB250D8D-2655-4E10-8205-BB3C4A91BFBB}"/>
                  </a:ext>
                </a:extLst>
              </p:cNvPr>
              <p:cNvSpPr txBox="1"/>
              <p:nvPr/>
            </p:nvSpPr>
            <p:spPr>
              <a:xfrm>
                <a:off x="6699826" y="6433429"/>
                <a:ext cx="142827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测试数据真实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Mask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2" name="文本框 251">
                <a:extLst>
                  <a:ext uri="{FF2B5EF4-FFF2-40B4-BE49-F238E27FC236}">
                    <a16:creationId xmlns:a16="http://schemas.microsoft.com/office/drawing/2014/main" id="{AADC8DA0-3279-4B0C-A0F7-F3F4D51E5F02}"/>
                  </a:ext>
                </a:extLst>
              </p:cNvPr>
              <p:cNvSpPr txBox="1"/>
              <p:nvPr/>
            </p:nvSpPr>
            <p:spPr>
              <a:xfrm>
                <a:off x="2723097" y="4080365"/>
                <a:ext cx="2762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3" name="文本框 252">
                <a:extLst>
                  <a:ext uri="{FF2B5EF4-FFF2-40B4-BE49-F238E27FC236}">
                    <a16:creationId xmlns:a16="http://schemas.microsoft.com/office/drawing/2014/main" id="{1C59897C-9A08-4CF2-A2F9-B3BAFCB0B627}"/>
                  </a:ext>
                </a:extLst>
              </p:cNvPr>
              <p:cNvSpPr txBox="1"/>
              <p:nvPr/>
            </p:nvSpPr>
            <p:spPr>
              <a:xfrm>
                <a:off x="2718909" y="4909125"/>
                <a:ext cx="2762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AA118971-DCE6-443E-B538-EFA80BE63209}"/>
                  </a:ext>
                </a:extLst>
              </p:cNvPr>
              <p:cNvSpPr txBox="1"/>
              <p:nvPr/>
            </p:nvSpPr>
            <p:spPr>
              <a:xfrm>
                <a:off x="2739884" y="5739864"/>
                <a:ext cx="2762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58" name="图片 257">
                <a:extLst>
                  <a:ext uri="{FF2B5EF4-FFF2-40B4-BE49-F238E27FC236}">
                    <a16:creationId xmlns:a16="http://schemas.microsoft.com/office/drawing/2014/main" id="{FEF32135-FD7F-46D3-B92C-F8FADA4DCBE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1060813" y="5090018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59" name="图片 258">
                <a:extLst>
                  <a:ext uri="{FF2B5EF4-FFF2-40B4-BE49-F238E27FC236}">
                    <a16:creationId xmlns:a16="http://schemas.microsoft.com/office/drawing/2014/main" id="{8DAF3C65-3C94-46AF-B251-163993BAA79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1199993" y="5195976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60" name="图片 259">
                <a:extLst>
                  <a:ext uri="{FF2B5EF4-FFF2-40B4-BE49-F238E27FC236}">
                    <a16:creationId xmlns:a16="http://schemas.microsoft.com/office/drawing/2014/main" id="{19A19711-C63F-4C5E-A71B-3019B800B16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1391858" y="5247057"/>
                <a:ext cx="662090" cy="478624"/>
              </a:xfrm>
              <a:prstGeom prst="rect">
                <a:avLst/>
              </a:prstGeom>
            </p:spPr>
          </p:pic>
          <p:cxnSp>
            <p:nvCxnSpPr>
              <p:cNvPr id="264" name="连接符: 肘形 263">
                <a:extLst>
                  <a:ext uri="{FF2B5EF4-FFF2-40B4-BE49-F238E27FC236}">
                    <a16:creationId xmlns:a16="http://schemas.microsoft.com/office/drawing/2014/main" id="{2D8D96F9-AD8C-45A3-9347-E2201E7BFD3A}"/>
                  </a:ext>
                </a:extLst>
              </p:cNvPr>
              <p:cNvCxnSpPr>
                <a:cxnSpLocks/>
                <a:endCxn id="260" idx="2"/>
              </p:cNvCxnSpPr>
              <p:nvPr/>
            </p:nvCxnSpPr>
            <p:spPr>
              <a:xfrm flipV="1">
                <a:off x="7911604" y="5725681"/>
                <a:ext cx="3811299" cy="397154"/>
              </a:xfrm>
              <a:prstGeom prst="bentConnector2">
                <a:avLst/>
              </a:prstGeom>
              <a:ln w="19050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直接箭头连接符 266">
                <a:extLst>
                  <a:ext uri="{FF2B5EF4-FFF2-40B4-BE49-F238E27FC236}">
                    <a16:creationId xmlns:a16="http://schemas.microsoft.com/office/drawing/2014/main" id="{459C5D05-DF07-41BA-B9A4-E41ABE2EFA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99332" y="5725681"/>
                <a:ext cx="0" cy="405063"/>
              </a:xfrm>
              <a:prstGeom prst="straightConnector1">
                <a:avLst/>
              </a:prstGeom>
              <a:ln w="19050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直接箭头连接符 269">
                <a:extLst>
                  <a:ext uri="{FF2B5EF4-FFF2-40B4-BE49-F238E27FC236}">
                    <a16:creationId xmlns:a16="http://schemas.microsoft.com/office/drawing/2014/main" id="{DDF7EDCD-E802-4704-9BC0-6DE2EC229C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80506" y="5725681"/>
                <a:ext cx="0" cy="405063"/>
              </a:xfrm>
              <a:prstGeom prst="straightConnector1">
                <a:avLst/>
              </a:prstGeom>
              <a:ln w="19050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2" name="文本框 271">
                <a:extLst>
                  <a:ext uri="{FF2B5EF4-FFF2-40B4-BE49-F238E27FC236}">
                    <a16:creationId xmlns:a16="http://schemas.microsoft.com/office/drawing/2014/main" id="{95B35489-4414-411F-AFB1-1FDBC191CD70}"/>
                  </a:ext>
                </a:extLst>
              </p:cNvPr>
              <p:cNvSpPr txBox="1"/>
              <p:nvPr/>
            </p:nvSpPr>
            <p:spPr>
              <a:xfrm>
                <a:off x="8460100" y="5739498"/>
                <a:ext cx="2762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3" name="文本框 272">
                <a:extLst>
                  <a:ext uri="{FF2B5EF4-FFF2-40B4-BE49-F238E27FC236}">
                    <a16:creationId xmlns:a16="http://schemas.microsoft.com/office/drawing/2014/main" id="{AA85610C-A332-4371-8C1E-6CF8504A6013}"/>
                  </a:ext>
                </a:extLst>
              </p:cNvPr>
              <p:cNvSpPr txBox="1"/>
              <p:nvPr/>
            </p:nvSpPr>
            <p:spPr>
              <a:xfrm>
                <a:off x="9939274" y="5745985"/>
                <a:ext cx="2762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4" name="文本框 273">
                <a:extLst>
                  <a:ext uri="{FF2B5EF4-FFF2-40B4-BE49-F238E27FC236}">
                    <a16:creationId xmlns:a16="http://schemas.microsoft.com/office/drawing/2014/main" id="{8F20BCA7-87D0-4B9D-91C9-30B916DF542A}"/>
                  </a:ext>
                </a:extLst>
              </p:cNvPr>
              <p:cNvSpPr txBox="1"/>
              <p:nvPr/>
            </p:nvSpPr>
            <p:spPr>
              <a:xfrm>
                <a:off x="11373098" y="5773982"/>
                <a:ext cx="2762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5" name="文本框 274">
                <a:extLst>
                  <a:ext uri="{FF2B5EF4-FFF2-40B4-BE49-F238E27FC236}">
                    <a16:creationId xmlns:a16="http://schemas.microsoft.com/office/drawing/2014/main" id="{5383A2C8-DACC-491A-8F9A-6DAAB656B2E2}"/>
                  </a:ext>
                </a:extLst>
              </p:cNvPr>
              <p:cNvSpPr txBox="1"/>
              <p:nvPr/>
            </p:nvSpPr>
            <p:spPr>
              <a:xfrm>
                <a:off x="8513366" y="6186599"/>
                <a:ext cx="64711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Dice A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6" name="文本框 275">
                <a:extLst>
                  <a:ext uri="{FF2B5EF4-FFF2-40B4-BE49-F238E27FC236}">
                    <a16:creationId xmlns:a16="http://schemas.microsoft.com/office/drawing/2014/main" id="{25C2C3E6-2B7C-481F-80B4-CB26FA0FD652}"/>
                  </a:ext>
                </a:extLst>
              </p:cNvPr>
              <p:cNvSpPr txBox="1"/>
              <p:nvPr/>
            </p:nvSpPr>
            <p:spPr>
              <a:xfrm>
                <a:off x="9956950" y="6197534"/>
                <a:ext cx="64711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Dice B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7" name="文本框 276">
                <a:extLst>
                  <a:ext uri="{FF2B5EF4-FFF2-40B4-BE49-F238E27FC236}">
                    <a16:creationId xmlns:a16="http://schemas.microsoft.com/office/drawing/2014/main" id="{07BE2EA7-1EC3-4E85-8A02-A2F4BAAA87C7}"/>
                  </a:ext>
                </a:extLst>
              </p:cNvPr>
              <p:cNvSpPr txBox="1"/>
              <p:nvPr/>
            </p:nvSpPr>
            <p:spPr>
              <a:xfrm>
                <a:off x="11322932" y="6199584"/>
                <a:ext cx="64711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Dice C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8" name="文本框 277">
                <a:extLst>
                  <a:ext uri="{FF2B5EF4-FFF2-40B4-BE49-F238E27FC236}">
                    <a16:creationId xmlns:a16="http://schemas.microsoft.com/office/drawing/2014/main" id="{1F358A4D-F42F-4A0D-A52F-468C8CC3AD3B}"/>
                  </a:ext>
                </a:extLst>
              </p:cNvPr>
              <p:cNvSpPr txBox="1"/>
              <p:nvPr/>
            </p:nvSpPr>
            <p:spPr>
              <a:xfrm>
                <a:off x="9241852" y="6522824"/>
                <a:ext cx="15830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评估生成数据有效性</a:t>
                </a:r>
              </a:p>
            </p:txBody>
          </p:sp>
        </p:grpSp>
        <p:sp>
          <p:nvSpPr>
            <p:cNvPr id="143" name="流程图: 磁盘 142">
              <a:extLst>
                <a:ext uri="{FF2B5EF4-FFF2-40B4-BE49-F238E27FC236}">
                  <a16:creationId xmlns:a16="http://schemas.microsoft.com/office/drawing/2014/main" id="{9DC917EC-6538-4590-A277-7EDCCBB09FF2}"/>
                </a:ext>
              </a:extLst>
            </p:cNvPr>
            <p:cNvSpPr/>
            <p:nvPr/>
          </p:nvSpPr>
          <p:spPr>
            <a:xfrm>
              <a:off x="2226068" y="2552419"/>
              <a:ext cx="955269" cy="367875"/>
            </a:xfrm>
            <a:prstGeom prst="flowChartMagneticDisk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id="{C063D74B-7FD1-47CD-BFAA-0F0A5FB0E77E}"/>
                </a:ext>
              </a:extLst>
            </p:cNvPr>
            <p:cNvSpPr txBox="1"/>
            <p:nvPr/>
          </p:nvSpPr>
          <p:spPr>
            <a:xfrm>
              <a:off x="2192708" y="2658684"/>
              <a:ext cx="107627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宋体" panose="02010600030101010101" pitchFamily="2" charset="-122"/>
                  <a:ea typeface="宋体" panose="02010600030101010101" pitchFamily="2" charset="-122"/>
                </a:rPr>
                <a:t>临床数据微调</a:t>
              </a:r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D7C76471-3554-4A7E-8FFC-BEB56205F2D2}"/>
                </a:ext>
              </a:extLst>
            </p:cNvPr>
            <p:cNvSpPr txBox="1"/>
            <p:nvPr/>
          </p:nvSpPr>
          <p:spPr>
            <a:xfrm>
              <a:off x="2336190" y="924395"/>
              <a:ext cx="10236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扩散模型</a:t>
              </a:r>
            </a:p>
          </p:txBody>
        </p:sp>
        <p:sp>
          <p:nvSpPr>
            <p:cNvPr id="151" name="箭头: 右 150">
              <a:extLst>
                <a:ext uri="{FF2B5EF4-FFF2-40B4-BE49-F238E27FC236}">
                  <a16:creationId xmlns:a16="http://schemas.microsoft.com/office/drawing/2014/main" id="{429EEC3B-1772-437E-9D92-6A0D714E67F9}"/>
                </a:ext>
              </a:extLst>
            </p:cNvPr>
            <p:cNvSpPr/>
            <p:nvPr/>
          </p:nvSpPr>
          <p:spPr>
            <a:xfrm rot="5400000">
              <a:off x="2619862" y="2148295"/>
              <a:ext cx="267476" cy="217747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67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35F8D37-CA32-43EC-91D7-CCD9A9B2AB6D}"/>
              </a:ext>
            </a:extLst>
          </p:cNvPr>
          <p:cNvSpPr/>
          <p:nvPr/>
        </p:nvSpPr>
        <p:spPr>
          <a:xfrm>
            <a:off x="2029968" y="941832"/>
            <a:ext cx="9023581" cy="5157216"/>
          </a:xfrm>
          <a:prstGeom prst="roundRect">
            <a:avLst/>
          </a:prstGeom>
          <a:noFill/>
          <a:ln w="28575">
            <a:solidFill>
              <a:srgbClr val="90B2D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D442C49-FD83-4EA0-8D7C-BF31F29BF341}"/>
              </a:ext>
            </a:extLst>
          </p:cNvPr>
          <p:cNvGrpSpPr/>
          <p:nvPr/>
        </p:nvGrpSpPr>
        <p:grpSpPr>
          <a:xfrm>
            <a:off x="2135580" y="4019034"/>
            <a:ext cx="752895" cy="574574"/>
            <a:chOff x="625271" y="610574"/>
            <a:chExt cx="1001205" cy="821533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51CB199-E6D2-47EC-BC65-C5324B3DC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5271" y="610574"/>
              <a:ext cx="696405" cy="516733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4908619-6A2F-4A90-BF6D-653053A65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7671" y="762974"/>
              <a:ext cx="696405" cy="516733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1E23078-B059-44BA-80C7-25A3FDF69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0071" y="915374"/>
              <a:ext cx="696405" cy="516733"/>
            </a:xfrm>
            <a:prstGeom prst="rect">
              <a:avLst/>
            </a:prstGeom>
          </p:spPr>
        </p:pic>
      </p:grpSp>
      <p:sp>
        <p:nvSpPr>
          <p:cNvPr id="6" name="箭头: 右 5">
            <a:extLst>
              <a:ext uri="{FF2B5EF4-FFF2-40B4-BE49-F238E27FC236}">
                <a16:creationId xmlns:a16="http://schemas.microsoft.com/office/drawing/2014/main" id="{D54E832A-52A3-44E8-967B-4D679087123A}"/>
              </a:ext>
            </a:extLst>
          </p:cNvPr>
          <p:cNvSpPr/>
          <p:nvPr/>
        </p:nvSpPr>
        <p:spPr>
          <a:xfrm>
            <a:off x="3699911" y="4354048"/>
            <a:ext cx="267476" cy="217747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CE6C96-B88D-48A0-A560-D245E86B7A6F}"/>
              </a:ext>
            </a:extLst>
          </p:cNvPr>
          <p:cNvSpPr txBox="1"/>
          <p:nvPr/>
        </p:nvSpPr>
        <p:spPr>
          <a:xfrm>
            <a:off x="2226932" y="4708276"/>
            <a:ext cx="1526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2D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切片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B1C1B00-8727-4BB9-AB95-A893E2F86B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096406" y="1370185"/>
            <a:ext cx="4974767" cy="4256931"/>
          </a:xfrm>
          <a:prstGeom prst="rect">
            <a:avLst/>
          </a:prstGeom>
        </p:spPr>
      </p:pic>
      <p:sp>
        <p:nvSpPr>
          <p:cNvPr id="11" name="左大括号 10">
            <a:extLst>
              <a:ext uri="{FF2B5EF4-FFF2-40B4-BE49-F238E27FC236}">
                <a16:creationId xmlns:a16="http://schemas.microsoft.com/office/drawing/2014/main" id="{78AE0645-8DFB-4767-9CB8-36A595D07A5E}"/>
              </a:ext>
            </a:extLst>
          </p:cNvPr>
          <p:cNvSpPr/>
          <p:nvPr/>
        </p:nvSpPr>
        <p:spPr>
          <a:xfrm>
            <a:off x="9300482" y="2203664"/>
            <a:ext cx="338328" cy="2478024"/>
          </a:xfrm>
          <a:prstGeom prst="leftBrac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F7F94CF-2916-4F60-8BD7-E4983F899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356" y="1945297"/>
            <a:ext cx="696405" cy="51673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FF1D732-A2DC-495B-AA4B-50899B2ED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355" y="3913067"/>
            <a:ext cx="696405" cy="51673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87F5A8C-7D8E-473B-8BEF-BBDEFED5B5FA}"/>
              </a:ext>
            </a:extLst>
          </p:cNvPr>
          <p:cNvSpPr txBox="1"/>
          <p:nvPr/>
        </p:nvSpPr>
        <p:spPr>
          <a:xfrm>
            <a:off x="9823295" y="2591662"/>
            <a:ext cx="1110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分级任务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22473F3-B1D2-4A35-9DB0-2FF48FC7E1D6}"/>
              </a:ext>
            </a:extLst>
          </p:cNvPr>
          <p:cNvSpPr txBox="1"/>
          <p:nvPr/>
        </p:nvSpPr>
        <p:spPr>
          <a:xfrm>
            <a:off x="9660281" y="4534742"/>
            <a:ext cx="1436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分亚型任务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6F7865E-9905-4B58-80E4-7D24D6034CA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4" r="3094"/>
          <a:stretch/>
        </p:blipFill>
        <p:spPr>
          <a:xfrm>
            <a:off x="2499528" y="1490160"/>
            <a:ext cx="1145646" cy="1056417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01059583-2058-4E3A-A26F-45BA9324D491}"/>
              </a:ext>
            </a:extLst>
          </p:cNvPr>
          <p:cNvSpPr txBox="1"/>
          <p:nvPr/>
        </p:nvSpPr>
        <p:spPr>
          <a:xfrm>
            <a:off x="2373206" y="2576604"/>
            <a:ext cx="146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图像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9A4C481D-5BAD-4E64-BE67-D505443503D5}"/>
              </a:ext>
            </a:extLst>
          </p:cNvPr>
          <p:cNvSpPr/>
          <p:nvPr/>
        </p:nvSpPr>
        <p:spPr>
          <a:xfrm rot="5400000" flipV="1">
            <a:off x="2599824" y="3249956"/>
            <a:ext cx="795049" cy="217747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1840126-6A9E-4DEF-B332-C97B4308F992}"/>
              </a:ext>
            </a:extLst>
          </p:cNvPr>
          <p:cNvSpPr txBox="1"/>
          <p:nvPr/>
        </p:nvSpPr>
        <p:spPr>
          <a:xfrm>
            <a:off x="5903976" y="5643837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双分支网络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1C56C48-8602-4D42-B2F8-F3C8666A8A83}"/>
              </a:ext>
            </a:extLst>
          </p:cNvPr>
          <p:cNvSpPr txBox="1"/>
          <p:nvPr/>
        </p:nvSpPr>
        <p:spPr>
          <a:xfrm>
            <a:off x="3082800" y="2968284"/>
            <a:ext cx="400110" cy="9906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30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像素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56E351A-1811-7C04-789C-3FE85EEBF9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0274" y="4040442"/>
            <a:ext cx="389887" cy="32641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76D3234-43B9-D438-E1EB-26CDD41813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5421" y="4267190"/>
            <a:ext cx="389887" cy="32641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CA7541A2-86CD-D5F8-0F98-21F660056C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7347" y="4153816"/>
            <a:ext cx="389887" cy="32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536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E01A072C-A265-46C3-8074-A2CDC5ECBC45}"/>
              </a:ext>
            </a:extLst>
          </p:cNvPr>
          <p:cNvSpPr/>
          <p:nvPr/>
        </p:nvSpPr>
        <p:spPr>
          <a:xfrm>
            <a:off x="1056904" y="159486"/>
            <a:ext cx="10088088" cy="669851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D560374-02F0-4F8C-BAAA-1DAAF1BE235E}"/>
              </a:ext>
            </a:extLst>
          </p:cNvPr>
          <p:cNvGrpSpPr/>
          <p:nvPr/>
        </p:nvGrpSpPr>
        <p:grpSpPr>
          <a:xfrm>
            <a:off x="7642589" y="2343415"/>
            <a:ext cx="1157314" cy="1036413"/>
            <a:chOff x="7642589" y="2343415"/>
            <a:chExt cx="1157314" cy="1036413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AD2427CA-BD00-42D5-8888-D3B2E7580F97}"/>
                </a:ext>
              </a:extLst>
            </p:cNvPr>
            <p:cNvSpPr/>
            <p:nvPr/>
          </p:nvSpPr>
          <p:spPr>
            <a:xfrm>
              <a:off x="7642589" y="2343415"/>
              <a:ext cx="1157314" cy="1036413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64AC8247-88B3-4BA6-A7FE-FA8CF8BD0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50198" y="2392493"/>
              <a:ext cx="608246" cy="613844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54B1380-2801-4132-8D01-B78617E2A9F1}"/>
                </a:ext>
              </a:extLst>
            </p:cNvPr>
            <p:cNvSpPr txBox="1"/>
            <p:nvPr/>
          </p:nvSpPr>
          <p:spPr>
            <a:xfrm>
              <a:off x="7708740" y="2940304"/>
              <a:ext cx="1091163" cy="306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100" b="0"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</a:lstStyle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生物标记物</a:t>
              </a:r>
            </a:p>
          </p:txBody>
        </p:sp>
      </p:grpSp>
      <p:graphicFrame>
        <p:nvGraphicFramePr>
          <p:cNvPr id="15" name="表格 15">
            <a:extLst>
              <a:ext uri="{FF2B5EF4-FFF2-40B4-BE49-F238E27FC236}">
                <a16:creationId xmlns:a16="http://schemas.microsoft.com/office/drawing/2014/main" id="{8E90B12F-C523-4599-A28D-A0CA0A4B3A20}"/>
              </a:ext>
            </a:extLst>
          </p:cNvPr>
          <p:cNvGraphicFramePr>
            <a:graphicFrameLocks noGrp="1"/>
          </p:cNvGraphicFramePr>
          <p:nvPr/>
        </p:nvGraphicFramePr>
        <p:xfrm>
          <a:off x="7333866" y="1137318"/>
          <a:ext cx="1807367" cy="609600"/>
        </p:xfrm>
        <a:graphic>
          <a:graphicData uri="http://schemas.openxmlformats.org/drawingml/2006/table">
            <a:tbl>
              <a:tblPr firstRow="1" bandRow="1"/>
              <a:tblGrid>
                <a:gridCol w="1807367">
                  <a:extLst>
                    <a:ext uri="{9D8B030D-6E8A-4147-A177-3AD203B41FA5}">
                      <a16:colId xmlns:a16="http://schemas.microsoft.com/office/drawing/2014/main" val="2506330798"/>
                    </a:ext>
                  </a:extLst>
                </a:gridCol>
              </a:tblGrid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354894"/>
                  </a:ext>
                </a:extLst>
              </a:tr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n / Sub-type n</a:t>
                      </a:r>
                    </a:p>
                  </a:txBody>
                  <a:tcPr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25470"/>
                  </a:ext>
                </a:extLst>
              </a:tr>
            </a:tbl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4B321DF1-D55F-4513-823F-01D710252E84}"/>
              </a:ext>
            </a:extLst>
          </p:cNvPr>
          <p:cNvGrpSpPr/>
          <p:nvPr/>
        </p:nvGrpSpPr>
        <p:grpSpPr>
          <a:xfrm>
            <a:off x="2630868" y="265176"/>
            <a:ext cx="4352711" cy="6519672"/>
            <a:chOff x="2630868" y="265176"/>
            <a:chExt cx="4352711" cy="6519672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AADDA7AA-183F-41F4-91D8-7101328BD409}"/>
                </a:ext>
              </a:extLst>
            </p:cNvPr>
            <p:cNvSpPr/>
            <p:nvPr/>
          </p:nvSpPr>
          <p:spPr>
            <a:xfrm>
              <a:off x="2630868" y="265176"/>
              <a:ext cx="4352711" cy="651967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093C3748-399E-4ADC-8CA4-4475A4F7D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4884" y="351510"/>
              <a:ext cx="4158695" cy="6347003"/>
            </a:xfrm>
            <a:prstGeom prst="rect">
              <a:avLst/>
            </a:prstGeom>
          </p:spPr>
        </p:pic>
      </p:grpSp>
      <p:graphicFrame>
        <p:nvGraphicFramePr>
          <p:cNvPr id="82" name="表格 15">
            <a:extLst>
              <a:ext uri="{FF2B5EF4-FFF2-40B4-BE49-F238E27FC236}">
                <a16:creationId xmlns:a16="http://schemas.microsoft.com/office/drawing/2014/main" id="{28EA244F-C825-4663-8BDF-D840188AE8B7}"/>
              </a:ext>
            </a:extLst>
          </p:cNvPr>
          <p:cNvGraphicFramePr>
            <a:graphicFrameLocks noGrp="1"/>
          </p:cNvGraphicFramePr>
          <p:nvPr/>
        </p:nvGraphicFramePr>
        <p:xfrm>
          <a:off x="7317563" y="3556927"/>
          <a:ext cx="1807367" cy="609600"/>
        </p:xfrm>
        <a:graphic>
          <a:graphicData uri="http://schemas.openxmlformats.org/drawingml/2006/table">
            <a:tbl>
              <a:tblPr firstRow="1" bandRow="1"/>
              <a:tblGrid>
                <a:gridCol w="1807367">
                  <a:extLst>
                    <a:ext uri="{9D8B030D-6E8A-4147-A177-3AD203B41FA5}">
                      <a16:colId xmlns:a16="http://schemas.microsoft.com/office/drawing/2014/main" val="2506330798"/>
                    </a:ext>
                  </a:extLst>
                </a:gridCol>
              </a:tblGrid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354894"/>
                  </a:ext>
                </a:extLst>
              </a:tr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n / Sub-type n</a:t>
                      </a:r>
                    </a:p>
                  </a:txBody>
                  <a:tcPr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25470"/>
                  </a:ext>
                </a:extLst>
              </a:tr>
            </a:tbl>
          </a:graphicData>
        </a:graphic>
      </p:graphicFrame>
      <p:graphicFrame>
        <p:nvGraphicFramePr>
          <p:cNvPr id="83" name="表格 15">
            <a:extLst>
              <a:ext uri="{FF2B5EF4-FFF2-40B4-BE49-F238E27FC236}">
                <a16:creationId xmlns:a16="http://schemas.microsoft.com/office/drawing/2014/main" id="{6E00F276-632D-4512-AA2C-7B95CA1207AF}"/>
              </a:ext>
            </a:extLst>
          </p:cNvPr>
          <p:cNvGraphicFramePr>
            <a:graphicFrameLocks noGrp="1"/>
          </p:cNvGraphicFramePr>
          <p:nvPr/>
        </p:nvGraphicFramePr>
        <p:xfrm>
          <a:off x="9240126" y="2599675"/>
          <a:ext cx="1807367" cy="609600"/>
        </p:xfrm>
        <a:graphic>
          <a:graphicData uri="http://schemas.openxmlformats.org/drawingml/2006/table">
            <a:tbl>
              <a:tblPr firstRow="1" bandRow="1"/>
              <a:tblGrid>
                <a:gridCol w="1807367">
                  <a:extLst>
                    <a:ext uri="{9D8B030D-6E8A-4147-A177-3AD203B41FA5}">
                      <a16:colId xmlns:a16="http://schemas.microsoft.com/office/drawing/2014/main" val="2506330798"/>
                    </a:ext>
                  </a:extLst>
                </a:gridCol>
              </a:tblGrid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354894"/>
                  </a:ext>
                </a:extLst>
              </a:tr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n / Sub-type n</a:t>
                      </a:r>
                    </a:p>
                  </a:txBody>
                  <a:tcPr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25470"/>
                  </a:ext>
                </a:extLst>
              </a:tr>
            </a:tbl>
          </a:graphicData>
        </a:graphic>
      </p:graphicFrame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A5B73489-58E2-4C30-9A81-B77926C65012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7025144" y="2861621"/>
            <a:ext cx="617445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6A0EAE57-1789-4B83-BBF4-7939FD4844CA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8221246" y="1758073"/>
            <a:ext cx="0" cy="58534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F248A83C-1CD8-4F91-A944-CA2E77CB3112}"/>
              </a:ext>
            </a:extLst>
          </p:cNvPr>
          <p:cNvCxnSpPr>
            <a:cxnSpLocks/>
            <a:endCxn id="83" idx="1"/>
          </p:cNvCxnSpPr>
          <p:nvPr/>
        </p:nvCxnSpPr>
        <p:spPr>
          <a:xfrm>
            <a:off x="8799902" y="2904475"/>
            <a:ext cx="44022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十字形 105">
            <a:extLst>
              <a:ext uri="{FF2B5EF4-FFF2-40B4-BE49-F238E27FC236}">
                <a16:creationId xmlns:a16="http://schemas.microsoft.com/office/drawing/2014/main" id="{2047AF64-CA25-4A37-A9D1-E1C406359F49}"/>
              </a:ext>
            </a:extLst>
          </p:cNvPr>
          <p:cNvSpPr/>
          <p:nvPr/>
        </p:nvSpPr>
        <p:spPr>
          <a:xfrm>
            <a:off x="7719228" y="2429591"/>
            <a:ext cx="271901" cy="256188"/>
          </a:xfrm>
          <a:prstGeom prst="plus">
            <a:avLst>
              <a:gd name="adj" fmla="val 43569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A4F8BB52-FAC2-4012-B488-2F53BCCC8BF4}"/>
              </a:ext>
            </a:extLst>
          </p:cNvPr>
          <p:cNvCxnSpPr>
            <a:cxnSpLocks/>
            <a:endCxn id="82" idx="1"/>
          </p:cNvCxnSpPr>
          <p:nvPr/>
        </p:nvCxnSpPr>
        <p:spPr>
          <a:xfrm>
            <a:off x="7031705" y="3861726"/>
            <a:ext cx="285858" cy="1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7" name="图片 26">
            <a:extLst>
              <a:ext uri="{FF2B5EF4-FFF2-40B4-BE49-F238E27FC236}">
                <a16:creationId xmlns:a16="http://schemas.microsoft.com/office/drawing/2014/main" id="{CA9746DA-A180-4ACA-A690-85B8656FA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177" y="3732639"/>
            <a:ext cx="696405" cy="516733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7CCFCF07-6BA7-4838-A788-8C42E46064F3}"/>
              </a:ext>
            </a:extLst>
          </p:cNvPr>
          <p:cNvSpPr txBox="1"/>
          <p:nvPr/>
        </p:nvSpPr>
        <p:spPr>
          <a:xfrm>
            <a:off x="1168810" y="4347012"/>
            <a:ext cx="14620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切片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EA24C9D6-CF7C-4D3C-A79F-5C83D83F58C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4" r="3094"/>
          <a:stretch/>
        </p:blipFill>
        <p:spPr>
          <a:xfrm>
            <a:off x="1223282" y="1974187"/>
            <a:ext cx="766341" cy="706654"/>
          </a:xfrm>
          <a:prstGeom prst="rect">
            <a:avLst/>
          </a:prstGeom>
        </p:spPr>
      </p:pic>
      <p:sp>
        <p:nvSpPr>
          <p:cNvPr id="30" name="箭头: 右 29">
            <a:extLst>
              <a:ext uri="{FF2B5EF4-FFF2-40B4-BE49-F238E27FC236}">
                <a16:creationId xmlns:a16="http://schemas.microsoft.com/office/drawing/2014/main" id="{894E2A75-4289-4E62-A2CE-F3AE46D1C07C}"/>
              </a:ext>
            </a:extLst>
          </p:cNvPr>
          <p:cNvSpPr/>
          <p:nvPr/>
        </p:nvSpPr>
        <p:spPr>
          <a:xfrm rot="5400000" flipV="1">
            <a:off x="1183210" y="3100401"/>
            <a:ext cx="795049" cy="217747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B9AA539-5F2B-4ADF-AF40-ABACB2F9C583}"/>
              </a:ext>
            </a:extLst>
          </p:cNvPr>
          <p:cNvSpPr txBox="1"/>
          <p:nvPr/>
        </p:nvSpPr>
        <p:spPr>
          <a:xfrm>
            <a:off x="1616741" y="2861621"/>
            <a:ext cx="353943" cy="9906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30</a:t>
            </a:r>
            <a:r>
              <a: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像素</a:t>
            </a:r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5B884DD7-1ACC-4F0A-80B9-6151461F4208}"/>
              </a:ext>
            </a:extLst>
          </p:cNvPr>
          <p:cNvSpPr/>
          <p:nvPr/>
        </p:nvSpPr>
        <p:spPr>
          <a:xfrm>
            <a:off x="2129786" y="3137817"/>
            <a:ext cx="267476" cy="217747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329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371</Words>
  <Application>Microsoft Macintosh PowerPoint</Application>
  <PresentationFormat>宽屏</PresentationFormat>
  <Paragraphs>95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宋体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a21382</dc:creator>
  <cp:lastModifiedBy>a21382</cp:lastModifiedBy>
  <cp:revision>1</cp:revision>
  <dcterms:created xsi:type="dcterms:W3CDTF">2025-11-13T04:21:47Z</dcterms:created>
  <dcterms:modified xsi:type="dcterms:W3CDTF">2025-11-13T04:25:12Z</dcterms:modified>
</cp:coreProperties>
</file>